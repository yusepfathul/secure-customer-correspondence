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f930da-c47e-3ef9-cdb7-c17541b8d171}">
          <p14:sldIdLst>
            <p14:sldId id="256"/>
            <p14:sldId id="257"/>
          </p14:sldIdLst>
        </p14:section>
        <p14:section name="Problem" id="{8604f7a4-3b3e-6e3a-3ef9-343f6c6d8eb8}">
          <p14:sldIdLst>
            <p14:sldId id="258"/>
            <p14:sldId id="259"/>
          </p14:sldIdLst>
        </p14:section>
        <p14:section name="Solution" id="{b41b05f8-fd1b-f85b-dd2b-332e972a2693}">
          <p14:sldIdLst>
            <p14:sldId id="260"/>
            <p14:sldId id="261"/>
            <p14:sldId id="262"/>
          </p14:sldIdLst>
        </p14:section>
        <p14:section name="Evidence" id="{35b29077-c498-06a0-72ae-b32edd31bd76}">
          <p14:sldIdLst>
            <p14:sldId id="263"/>
            <p14:sldId id="264"/>
          </p14:sldIdLst>
        </p14:section>
        <p14:section name="Impact and next steps" id="{02c53bd0-b541-5b49-da12-d1ebf8932c1a}">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24F"/>
                </a:solidFill>
                <a:latin typeface="+mn-lt"/>
              </a:defRPr>
            </a:pPr>
            <a:r>
              <a:rPr sz="1400" b="0" i="0" u="none" strike="noStrike">
                <a:solidFill>
                  <a:srgbClr val="14324F"/>
                </a:solidFill>
                <a:latin typeface="+mn-lt"/>
              </a:rPr>
              <a:t>Documents held by control, Aug-Oct 2026</a:t>
            </a:r>
          </a:p>
        </c:rich>
      </c:tx>
      <c:layout/>
      <c:overlay val="0"/>
    </c:title>
    <c:autoTitleDeleted val="0"/>
    <c:plotArea>
      <c:layout/>
      <c:barChart>
        <c:barDir val="bar"/>
        <c:grouping val="clustered"/>
        <c:varyColors val="0"/>
        <c:ser>
          <c:idx val="0"/>
          <c:order val="0"/>
          <c:tx>
            <c:strRef>
              <c:f>Sheet1!$B$1</c:f>
              <c:strCache>
                <c:ptCount val="1"/>
                <c:pt idx="0">
                  <c:v>Documents held</c:v>
                </c:pt>
              </c:strCache>
            </c:strRef>
          </c:tx>
          <c:spPr>
            <a:solidFill>
              <a:srgbClr val="17808F"/>
            </a:solidFill>
            <a:effectLst/>
          </c:spPr>
          <c:invertIfNegative val="0"/>
          <c:dLbls>
            <c:numFmt formatCode="#,##0"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cat>
            <c:multiLvlStrRef>
              <c:f>Sheet1!$A$2:$A$10</c:f>
              <c:multiLvlStrCache>
                <c:ptCount val="9"/>
                <c:lvl>
                  <c:pt idx="0">
                    <c:v>DP-10  NIK in file name</c:v>
                  </c:pt>
                  <c:pt idx="1">
                    <c:v>DP-08  Multiple recipients</c:v>
                  </c:pt>
                  <c:pt idx="2">
                    <c:v>DP-07  Wrong or manual CC</c:v>
                  </c:pt>
                  <c:pt idx="3">
                    <c:v>DP-06  Email differs / typo</c:v>
                  </c:pt>
                  <c:pt idx="4">
                    <c:v>DP-05  Orphan letter</c:v>
                  </c:pt>
                  <c:pt idx="5">
                    <c:v>DP-04  Content not recipient's</c:v>
                  </c:pt>
                  <c:pt idx="6">
                    <c:v>DP-03  Ambiguous file name</c:v>
                  </c:pt>
                  <c:pt idx="7">
                    <c:v>DP-02  Duplicate letter</c:v>
                  </c:pt>
                  <c:pt idx="8">
                    <c:v>DP-01  Letter missing</c:v>
                  </c:pt>
                </c:lvl>
              </c:multiLvlStrCache>
            </c:multiLvlStrRef>
          </c:cat>
          <c:val>
            <c:numRef>
              <c:f>Sheet1!$B$2:$B$10</c:f>
              <c:numCache>
                <c:formatCode>General</c:formatCode>
                <c:ptCount val="9"/>
                <c:pt idx="0">
                  <c:v>3</c:v>
                </c:pt>
                <c:pt idx="1">
                  <c:v>3</c:v>
                </c:pt>
                <c:pt idx="2">
                  <c:v>6</c:v>
                </c:pt>
                <c:pt idx="3">
                  <c:v>7</c:v>
                </c:pt>
                <c:pt idx="4">
                  <c:v>3</c:v>
                </c:pt>
                <c:pt idx="5">
                  <c:v>6</c:v>
                </c:pt>
                <c:pt idx="6">
                  <c:v>6</c:v>
                </c:pt>
                <c:pt idx="7">
                  <c:v>3</c:v>
                </c:pt>
                <c:pt idx="8">
                  <c:v>5</c:v>
                </c:pt>
              </c:numCache>
            </c:numRef>
          </c:val>
        </c:ser>
        <c:dLbls>
          <c:numFmt formatCode="#,##0"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24F"/>
                </a:solidFill>
                <a:latin typeface="+mn-lt"/>
              </a:defRPr>
            </a:pPr>
            <a:r>
              <a:rPr sz="1400" b="0" i="0" u="none" strike="noStrike">
                <a:solidFill>
                  <a:srgbClr val="14324F"/>
                </a:solidFill>
                <a:latin typeface="+mn-lt"/>
              </a:rPr>
              <a:t>Minutes per 150-letter batch</a:t>
            </a:r>
          </a:p>
        </c:rich>
      </c:tx>
      <c:layout/>
      <c:overlay val="0"/>
    </c:title>
    <c:autoTitleDeleted val="0"/>
    <c:plotArea>
      <c:layout/>
      <c:barChart>
        <c:barDir val="col"/>
        <c:grouping val="clustered"/>
        <c:varyColors val="0"/>
        <c:ser>
          <c:idx val="0"/>
          <c:order val="0"/>
          <c:tx>
            <c:strRef>
              <c:f>Sheet1!$B$1</c:f>
              <c:strCache>
                <c:ptCount val="1"/>
                <c:pt idx="0">
                  <c:v>Minutes per batch</c:v>
                </c:pt>
              </c:strCache>
            </c:strRef>
          </c:tx>
          <c:spPr>
            <a:solidFill>
              <a:srgbClr val="9DB4CC"/>
            </a:solidFill>
            <a:effectLst/>
          </c:spPr>
          <c:invertIfNegative val="0"/>
          <c:dLbls>
            <c:numFmt formatCode="#,##0" sourceLinked="0"/>
            <c:txPr>
              <a:bodyPr/>
              <a:lstStyle/>
              <a:p>
                <a:pPr>
                  <a:defRPr b="0" i="0" strike="noStrike" sz="14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9DB4CC"/>
              </a:solidFill>
              <a:effectLst/>
            </c:spPr>
          </c:dPt>
          <c:dPt>
            <c:idx val="1"/>
            <c:invertIfNegative val="0"/>
            <c:bubble3D val="0"/>
            <c:spPr>
              <a:solidFill>
                <a:srgbClr val="1F8A5B"/>
              </a:solidFill>
              <a:effectLst/>
            </c:spPr>
          </c:dPt>
          <c:cat>
            <c:multiLvlStrRef>
              <c:f>Sheet1!$A$2:$A$3</c:f>
              <c:multiLvlStrCache>
                <c:ptCount val="2"/>
                <c:lvl>
                  <c:pt idx="0">
                    <c:v>As-Is (manual, assumed)</c:v>
                  </c:pt>
                  <c:pt idx="1">
                    <c:v>To-Be</c:v>
                  </c:pt>
                </c:lvl>
              </c:multiLvlStrCache>
            </c:multiLvlStrRef>
          </c:cat>
          <c:val>
            <c:numRef>
              <c:f>Sheet1!$B$2:$B$3</c:f>
              <c:numCache>
                <c:formatCode>General</c:formatCode>
                <c:ptCount val="2"/>
                <c:pt idx="0">
                  <c:v>600</c:v>
                </c:pt>
                <c:pt idx="1">
                  <c:v>20</c:v>
                </c:pt>
              </c:numCache>
            </c:numRef>
          </c:val>
        </c:ser>
        <c:dLbls>
          <c:numFmt formatCode="#,##0" sourceLinked="0"/>
          <c:txPr>
            <a:bodyPr/>
            <a:lstStyle/>
            <a:p>
              <a:pPr>
                <a:defRPr b="0" i="0" strike="noStrike" sz="14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public, synthetic rebuild of the kind of process I improve at work: sending letters that contain personal data to customers by email, with the branch in CC. The goal was to make it faster, impossible to misdirect,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one process. The headline: a batch that took a working day by hand takes about twenty minutes, and across three months not a single letter went to the wrong person, even though I deliberately injected 42 realistic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sensitive by design: every letter carries the NIK, and every email copies a branch. So two things can go wrong: the wrong customer, or the wrong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manual step maps to a specific way data can leak. That observation drives the whole design: if the failure modes are predictable, each one can get a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grouped thirteen controls by the question they answer: is it the right document, the right recipient, is the data protected, and is delivery safe. DP-04 and DP-07 are the critical ones for this role: wrong customer and wrong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one to three protect the data, four and five are the governance gate, six is the efficiency gain, seven produces the evidence. The branch CC is never typed by a person: it is looked up from branch master data using the customer's own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governance part of the role: segregation of duties, a hard stop, evidence, and a written procedure for when something still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the controls rather than claim them, I injected realistic mistakes into every batch and kept a ground-truth list. Every one was caught by the control designed for it, and no clean letter was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 does not trust the pipeline. It opens every email in the outbox, tries the attachment with the To recipient's own password and reads what is inside. The matrix shows only the diagonal is 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saving is large, but the bigger change is qualitative: the process now has controls, a second pair of eyes and evidence, none of which existed before. The time assumptions are explicit and should be replaced with a real time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monthly report does not only count exceptions; it says where to fix them. Most exceptions come from manual edits upstream, so the cheapest control is removing the manual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to walk through the code or the control room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611880"/>
            <a:ext cx="10058400" cy="1463040"/>
          </a:xfrm>
          <a:prstGeom prst="rect">
            <a:avLst/>
          </a:prstGeom>
          <a:noFill/>
          <a:ln/>
        </p:spPr>
        <p:txBody>
          <a:bodyPr wrap="square" rtlCol="0"/>
          <a:lstStyle>
            <a:lvl1pPr indent="0" marL="0">
              <a:buNone/>
              <a:defRPr lang="en-US" sz="1800" dirty="0">
                <a:solidFill>
                  <a:srgbClr val="CADC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rtlCol="0"/>
          <a:lstStyle>
            <a:lvl1pPr algn="l" indent="0" marL="0">
              <a:buNone/>
              <a:defRPr lang="en-US" sz="2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chemeClr val="accent5"/>
                </a:solidFill>
              </a:rPr>
              <a:t>Secure Customer Correspondence  |  synthetic data</a:t>
            </a:r>
            <a:endParaRPr lang="en-US" sz="9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Secure Customer Correspondence</a:t>
            </a:r>
            <a:endParaRPr lang="en-US" sz="4000" dirty="0"/>
          </a:p>
        </p:txBody>
      </p:sp>
      <p:sp>
        <p:nvSpPr>
          <p:cNvPr id="3" name="Text 0"/>
          <p:cNvSpPr/>
          <p:nvPr>
            <p:ph idx="101" type="body" hasCustomPrompt="1"/>
          </p:nvPr>
        </p:nvSpPr>
        <p:spPr>
          <a:xfrm>
            <a:off x="731520" y="3611880"/>
            <a:ext cx="10058400" cy="1463040"/>
          </a:xfrm>
          <a:prstGeom prst="rect">
            <a:avLst/>
          </a:prstGeom>
          <a:noFill/>
          <a:ln/>
        </p:spPr>
        <p:txBody>
          <a:bodyPr wrap="square" lIns="0" tIns="0" rIns="0" bIns="0" rtlCol="0" anchor="t"/>
          <a:lstStyle/>
          <a:p>
            <a:pPr indent="0" marL="0">
              <a:buNone/>
            </a:pPr>
            <a:r>
              <a:rPr lang="en-US" sz="1800" dirty="0">
                <a:solidFill>
                  <a:srgbClr val="CADCFC"/>
                </a:solidFill>
              </a:rPr>
              <a:t>Redesigning customer letter delivery with built-in data protection and governance</a:t>
            </a:r>
            <a:endParaRPr lang="en-US" sz="1800" dirty="0"/>
          </a:p>
          <a:p>
            <a:pPr indent="0" marL="0">
              <a:buNone/>
            </a:pPr>
            <a:r>
              <a:rPr lang="en-US" sz="1000" dirty="0">
                <a:solidFill>
                  <a:srgbClr val="CADCFC"/>
                </a:solidFill>
              </a:rPr>
              <a:t> </a:t>
            </a:r>
            <a:endParaRPr lang="en-US" sz="1800" dirty="0"/>
          </a:p>
          <a:p>
            <a:pPr indent="0" marL="0">
              <a:buNone/>
            </a:pPr>
            <a:r>
              <a:rPr lang="en-US" sz="1400" dirty="0">
                <a:solidFill>
                  <a:srgbClr val="9DB4CC"/>
                </a:solidFill>
              </a:rPr>
              <a:t>Yusep Fathul Anwar  |  Portfolio case study  |  Synthetic data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Automating letter delivery cut effort ~30x and sent zero letters to the wrong person</a:t>
            </a:r>
            <a:endParaRPr lang="en-US" sz="2400" dirty="0"/>
          </a:p>
        </p:txBody>
      </p:sp>
      <p:sp>
        <p:nvSpPr>
          <p:cNvPr id="3" name="Process improvement card"/>
          <p:cNvSpPr/>
          <p:nvPr/>
        </p:nvSpPr>
        <p:spPr>
          <a:xfrm>
            <a:off x="548640" y="1417320"/>
            <a:ext cx="3520440" cy="3977640"/>
          </a:xfrm>
          <a:prstGeom prst="roundRect">
            <a:avLst>
              <a:gd name="adj" fmla="val 2078"/>
            </a:avLst>
          </a:prstGeom>
          <a:solidFill>
            <a:schemeClr val="bg2"/>
          </a:solidFill>
          <a:ln w="12700">
            <a:solidFill>
              <a:schemeClr val="bg2"/>
            </a:solidFill>
            <a:prstDash val="solid"/>
          </a:ln>
        </p:spPr>
      </p:sp>
      <p:sp>
        <p:nvSpPr>
          <p:cNvPr id="4" name="Process improvement 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Process improvement icon" descr="preencoded.png">    </p:cNvPr>
          <p:cNvPicPr>
            <a:picLocks noChangeAspect="1"/>
          </p:cNvPicPr>
          <p:nvPr/>
        </p:nvPicPr>
        <p:blipFill>
          <a:blip r:embed="rId1"/>
          <a:stretch>
            <a:fillRect/>
          </a:stretch>
        </p:blipFill>
        <p:spPr>
          <a:xfrm>
            <a:off x="976579" y="1845259"/>
            <a:ext cx="332842" cy="332842"/>
          </a:xfrm>
          <a:prstGeom prst="rect">
            <a:avLst/>
          </a:prstGeom>
        </p:spPr>
      </p:pic>
      <p:sp>
        <p:nvSpPr>
          <p:cNvPr id="6" name="Process improvement heading"/>
          <p:cNvSpPr txBox="1"/>
          <p:nvPr/>
        </p:nvSpPr>
        <p:spPr>
          <a:xfrm>
            <a:off x="1600200" y="1764792"/>
            <a:ext cx="2331720" cy="502920"/>
          </a:xfrm>
          <a:prstGeom prst="rect">
            <a:avLst/>
          </a:prstGeom>
          <a:noFill/>
          <a:ln/>
        </p:spPr>
        <p:txBody>
          <a:bodyPr wrap="square" lIns="0" tIns="0" rIns="0" bIns="0" rtlCol="0" anchor="ctr"/>
          <a:lstStyle/>
          <a:p>
            <a:pPr indent="0" marL="0">
              <a:buNone/>
            </a:pPr>
            <a:r>
              <a:rPr lang="en-US" sz="1700" b="1" dirty="0">
                <a:solidFill>
                  <a:schemeClr val="tx2"/>
                </a:solidFill>
              </a:rPr>
              <a:t>Process improvement</a:t>
            </a:r>
            <a:endParaRPr lang="en-US" sz="1700" dirty="0"/>
          </a:p>
        </p:txBody>
      </p:sp>
      <p:sp>
        <p:nvSpPr>
          <p:cNvPr id="7" name="Process improvement stat"/>
          <p:cNvSpPr txBox="1"/>
          <p:nvPr/>
        </p:nvSpPr>
        <p:spPr>
          <a:xfrm>
            <a:off x="822960" y="2560320"/>
            <a:ext cx="297180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~30x</a:t>
            </a:r>
            <a:endParaRPr lang="en-US" sz="4800" dirty="0"/>
          </a:p>
        </p:txBody>
      </p:sp>
      <p:sp>
        <p:nvSpPr>
          <p:cNvPr id="8" name="Process improvement stat label"/>
          <p:cNvSpPr txBox="1"/>
          <p:nvPr/>
        </p:nvSpPr>
        <p:spPr>
          <a:xfrm>
            <a:off x="822960" y="3474720"/>
            <a:ext cx="2971800" cy="594360"/>
          </a:xfrm>
          <a:prstGeom prst="rect">
            <a:avLst/>
          </a:prstGeom>
          <a:noFill/>
          <a:ln/>
        </p:spPr>
        <p:txBody>
          <a:bodyPr wrap="square" lIns="0" tIns="0" rIns="0" bIns="0" rtlCol="0" anchor="t"/>
          <a:lstStyle/>
          <a:p>
            <a:pPr indent="0" marL="0">
              <a:buNone/>
            </a:pPr>
            <a:r>
              <a:rPr lang="en-US" sz="1400" dirty="0">
                <a:solidFill>
                  <a:schemeClr val="tx1"/>
                </a:solidFill>
              </a:rPr>
              <a:t>less effort per 150-letter batch (10 h to 20 min)</a:t>
            </a:r>
            <a:endParaRPr lang="en-US" sz="1400" dirty="0"/>
          </a:p>
        </p:txBody>
      </p:sp>
      <p:sp>
        <p:nvSpPr>
          <p:cNvPr id="9" name="Process improvement points"/>
          <p:cNvSpPr txBox="1"/>
          <p:nvPr/>
        </p:nvSpPr>
        <p:spPr>
          <a:xfrm>
            <a:off x="822960" y="4206240"/>
            <a:ext cx="29718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5"/>
                </a:solidFill>
              </a:rPr>
              <a:t>Matching, addressing, locking and sending automated</a:t>
            </a:r>
            <a:endParaRPr lang="en-US" sz="1400" dirty="0"/>
          </a:p>
          <a:p>
            <a:pPr marL="342900" indent="-342900">
              <a:spcAft>
                <a:spcPts val="600"/>
              </a:spcAft>
              <a:buSzPct val="100000"/>
              <a:buChar char="•"/>
            </a:pPr>
            <a:r>
              <a:rPr lang="en-US" sz="1400" dirty="0">
                <a:solidFill>
                  <a:schemeClr val="accent5"/>
                </a:solidFill>
              </a:rPr>
              <a:t>~13 s processing per batch</a:t>
            </a:r>
            <a:endParaRPr lang="en-US" sz="1400" dirty="0"/>
          </a:p>
        </p:txBody>
      </p:sp>
      <p:sp>
        <p:nvSpPr>
          <p:cNvPr id="10" name="Data protection card"/>
          <p:cNvSpPr/>
          <p:nvPr/>
        </p:nvSpPr>
        <p:spPr>
          <a:xfrm>
            <a:off x="4343400" y="1417320"/>
            <a:ext cx="3520440" cy="3977640"/>
          </a:xfrm>
          <a:prstGeom prst="roundRect">
            <a:avLst>
              <a:gd name="adj" fmla="val 2078"/>
            </a:avLst>
          </a:prstGeom>
          <a:solidFill>
            <a:schemeClr val="bg2"/>
          </a:solidFill>
          <a:ln w="12700">
            <a:solidFill>
              <a:schemeClr val="bg2"/>
            </a:solidFill>
            <a:prstDash val="solid"/>
          </a:ln>
        </p:spPr>
      </p:sp>
      <p:sp>
        <p:nvSpPr>
          <p:cNvPr id="11" name="Data protection circle"/>
          <p:cNvSpPr/>
          <p:nvPr/>
        </p:nvSpPr>
        <p:spPr>
          <a:xfrm>
            <a:off x="4617720" y="1691640"/>
            <a:ext cx="640080" cy="640080"/>
          </a:xfrm>
          <a:prstGeom prst="ellipse">
            <a:avLst/>
          </a:prstGeom>
          <a:solidFill>
            <a:schemeClr val="accent4"/>
          </a:solidFill>
          <a:ln w="12700">
            <a:solidFill>
              <a:schemeClr val="accent4"/>
            </a:solidFill>
            <a:prstDash val="solid"/>
          </a:ln>
        </p:spPr>
      </p:sp>
      <p:pic>
        <p:nvPicPr>
          <p:cNvPr id="12" name="Data protection icon" descr="preencoded.png">    </p:cNvPr>
          <p:cNvPicPr>
            <a:picLocks noChangeAspect="1"/>
          </p:cNvPicPr>
          <p:nvPr/>
        </p:nvPicPr>
        <p:blipFill>
          <a:blip r:embed="rId2"/>
          <a:stretch>
            <a:fillRect/>
          </a:stretch>
        </p:blipFill>
        <p:spPr>
          <a:xfrm>
            <a:off x="4771339" y="1845259"/>
            <a:ext cx="332842" cy="332842"/>
          </a:xfrm>
          <a:prstGeom prst="rect">
            <a:avLst/>
          </a:prstGeom>
        </p:spPr>
      </p:pic>
      <p:sp>
        <p:nvSpPr>
          <p:cNvPr id="13" name="Data protection heading"/>
          <p:cNvSpPr txBox="1"/>
          <p:nvPr/>
        </p:nvSpPr>
        <p:spPr>
          <a:xfrm>
            <a:off x="5394960" y="1764792"/>
            <a:ext cx="2331720" cy="502920"/>
          </a:xfrm>
          <a:prstGeom prst="rect">
            <a:avLst/>
          </a:prstGeom>
          <a:noFill/>
          <a:ln/>
        </p:spPr>
        <p:txBody>
          <a:bodyPr wrap="square" lIns="0" tIns="0" rIns="0" bIns="0" rtlCol="0" anchor="ctr"/>
          <a:lstStyle/>
          <a:p>
            <a:pPr indent="0" marL="0">
              <a:buNone/>
            </a:pPr>
            <a:r>
              <a:rPr lang="en-US" sz="1700" b="1" dirty="0">
                <a:solidFill>
                  <a:schemeClr val="tx2"/>
                </a:solidFill>
              </a:rPr>
              <a:t>Data protection</a:t>
            </a:r>
            <a:endParaRPr lang="en-US" sz="1700" dirty="0"/>
          </a:p>
        </p:txBody>
      </p:sp>
      <p:sp>
        <p:nvSpPr>
          <p:cNvPr id="14" name="Data protection stat"/>
          <p:cNvSpPr txBox="1"/>
          <p:nvPr/>
        </p:nvSpPr>
        <p:spPr>
          <a:xfrm>
            <a:off x="4617720" y="2560320"/>
            <a:ext cx="297180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0</a:t>
            </a:r>
            <a:endParaRPr lang="en-US" sz="4800" dirty="0"/>
          </a:p>
        </p:txBody>
      </p:sp>
      <p:sp>
        <p:nvSpPr>
          <p:cNvPr id="15" name="Data protection stat label"/>
          <p:cNvSpPr txBox="1"/>
          <p:nvPr/>
        </p:nvSpPr>
        <p:spPr>
          <a:xfrm>
            <a:off x="4617720" y="3474720"/>
            <a:ext cx="2971800" cy="594360"/>
          </a:xfrm>
          <a:prstGeom prst="rect">
            <a:avLst/>
          </a:prstGeom>
          <a:noFill/>
          <a:ln/>
        </p:spPr>
        <p:txBody>
          <a:bodyPr wrap="square" lIns="0" tIns="0" rIns="0" bIns="0" rtlCol="0" anchor="t"/>
          <a:lstStyle/>
          <a:p>
            <a:pPr indent="0" marL="0">
              <a:buNone/>
            </a:pPr>
            <a:r>
              <a:rPr lang="en-US" sz="1400" dirty="0">
                <a:solidFill>
                  <a:schemeClr val="tx1"/>
                </a:solidFill>
              </a:rPr>
              <a:t>letters reached the wrong person</a:t>
            </a:r>
            <a:endParaRPr lang="en-US" sz="1400" dirty="0"/>
          </a:p>
        </p:txBody>
      </p:sp>
      <p:sp>
        <p:nvSpPr>
          <p:cNvPr id="16" name="Data protection points"/>
          <p:cNvSpPr txBox="1"/>
          <p:nvPr/>
        </p:nvSpPr>
        <p:spPr>
          <a:xfrm>
            <a:off x="4617720" y="4206240"/>
            <a:ext cx="29718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5"/>
                </a:solidFill>
              </a:rPr>
              <a:t>13 controls before any email leaves</a:t>
            </a:r>
            <a:endParaRPr lang="en-US" sz="1400" dirty="0"/>
          </a:p>
          <a:p>
            <a:pPr marL="342900" indent="-342900">
              <a:spcAft>
                <a:spcPts val="600"/>
              </a:spcAft>
              <a:buSzPct val="100000"/>
              <a:buChar char="•"/>
            </a:pPr>
            <a:r>
              <a:rPr lang="en-US" sz="1400" dirty="0">
                <a:solidFill>
                  <a:schemeClr val="accent5"/>
                </a:solidFill>
              </a:rPr>
              <a:t>42 of 42 injected defects caught</a:t>
            </a:r>
            <a:endParaRPr lang="en-US" sz="1400" dirty="0"/>
          </a:p>
        </p:txBody>
      </p:sp>
      <p:sp>
        <p:nvSpPr>
          <p:cNvPr id="17" name="Governance card"/>
          <p:cNvSpPr/>
          <p:nvPr/>
        </p:nvSpPr>
        <p:spPr>
          <a:xfrm>
            <a:off x="8138160" y="1417320"/>
            <a:ext cx="3520440" cy="3977640"/>
          </a:xfrm>
          <a:prstGeom prst="roundRect">
            <a:avLst>
              <a:gd name="adj" fmla="val 2078"/>
            </a:avLst>
          </a:prstGeom>
          <a:solidFill>
            <a:schemeClr val="bg2"/>
          </a:solidFill>
          <a:ln w="12700">
            <a:solidFill>
              <a:schemeClr val="bg2"/>
            </a:solidFill>
            <a:prstDash val="solid"/>
          </a:ln>
        </p:spPr>
      </p:sp>
      <p:sp>
        <p:nvSpPr>
          <p:cNvPr id="18" name="Governance circle"/>
          <p:cNvSpPr/>
          <p:nvPr/>
        </p:nvSpPr>
        <p:spPr>
          <a:xfrm>
            <a:off x="8412480" y="1691640"/>
            <a:ext cx="640080" cy="640080"/>
          </a:xfrm>
          <a:prstGeom prst="ellipse">
            <a:avLst/>
          </a:prstGeom>
          <a:solidFill>
            <a:schemeClr val="accent5"/>
          </a:solidFill>
          <a:ln w="12700">
            <a:solidFill>
              <a:schemeClr val="accent5"/>
            </a:solidFill>
            <a:prstDash val="solid"/>
          </a:ln>
        </p:spPr>
      </p:sp>
      <p:pic>
        <p:nvPicPr>
          <p:cNvPr id="19" name="Governance icon" descr="preencoded.png">    </p:cNvPr>
          <p:cNvPicPr>
            <a:picLocks noChangeAspect="1"/>
          </p:cNvPicPr>
          <p:nvPr/>
        </p:nvPicPr>
        <p:blipFill>
          <a:blip r:embed="rId3"/>
          <a:stretch>
            <a:fillRect/>
          </a:stretch>
        </p:blipFill>
        <p:spPr>
          <a:xfrm>
            <a:off x="8566099" y="1845259"/>
            <a:ext cx="332842" cy="332842"/>
          </a:xfrm>
          <a:prstGeom prst="rect">
            <a:avLst/>
          </a:prstGeom>
        </p:spPr>
      </p:pic>
      <p:sp>
        <p:nvSpPr>
          <p:cNvPr id="20" name="Governance heading"/>
          <p:cNvSpPr txBox="1"/>
          <p:nvPr/>
        </p:nvSpPr>
        <p:spPr>
          <a:xfrm>
            <a:off x="9189720" y="1764792"/>
            <a:ext cx="2331720" cy="502920"/>
          </a:xfrm>
          <a:prstGeom prst="rect">
            <a:avLst/>
          </a:prstGeom>
          <a:noFill/>
          <a:ln/>
        </p:spPr>
        <p:txBody>
          <a:bodyPr wrap="square" lIns="0" tIns="0" rIns="0" bIns="0" rtlCol="0" anchor="ctr"/>
          <a:lstStyle/>
          <a:p>
            <a:pPr indent="0" marL="0">
              <a:buNone/>
            </a:pPr>
            <a:r>
              <a:rPr lang="en-US" sz="1700" b="1" dirty="0">
                <a:solidFill>
                  <a:schemeClr val="tx2"/>
                </a:solidFill>
              </a:rPr>
              <a:t>Governance</a:t>
            </a:r>
            <a:endParaRPr lang="en-US" sz="1700" dirty="0"/>
          </a:p>
        </p:txBody>
      </p:sp>
      <p:sp>
        <p:nvSpPr>
          <p:cNvPr id="21" name="Governance stat"/>
          <p:cNvSpPr txBox="1"/>
          <p:nvPr/>
        </p:nvSpPr>
        <p:spPr>
          <a:xfrm>
            <a:off x="8412480" y="2560320"/>
            <a:ext cx="297180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3 / 3</a:t>
            </a:r>
            <a:endParaRPr lang="en-US" sz="4800" dirty="0"/>
          </a:p>
        </p:txBody>
      </p:sp>
      <p:sp>
        <p:nvSpPr>
          <p:cNvPr id="22" name="Governance stat label"/>
          <p:cNvSpPr txBox="1"/>
          <p:nvPr/>
        </p:nvSpPr>
        <p:spPr>
          <a:xfrm>
            <a:off x="8412480" y="3474720"/>
            <a:ext cx="2971800" cy="594360"/>
          </a:xfrm>
          <a:prstGeom prst="rect">
            <a:avLst/>
          </a:prstGeom>
          <a:noFill/>
          <a:ln/>
        </p:spPr>
        <p:txBody>
          <a:bodyPr wrap="square" lIns="0" tIns="0" rIns="0" bIns="0" rtlCol="0" anchor="t"/>
          <a:lstStyle/>
          <a:p>
            <a:pPr indent="0" marL="0">
              <a:buNone/>
            </a:pPr>
            <a:r>
              <a:rPr lang="en-US" sz="1400" dirty="0">
                <a:solidFill>
                  <a:schemeClr val="tx1"/>
                </a:solidFill>
              </a:rPr>
              <a:t>batches approved by a second person</a:t>
            </a:r>
            <a:endParaRPr lang="en-US" sz="1400" dirty="0"/>
          </a:p>
        </p:txBody>
      </p:sp>
      <p:sp>
        <p:nvSpPr>
          <p:cNvPr id="23" name="Governance points"/>
          <p:cNvSpPr txBox="1"/>
          <p:nvPr/>
        </p:nvSpPr>
        <p:spPr>
          <a:xfrm>
            <a:off x="8412480" y="4206240"/>
            <a:ext cx="29718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5"/>
                </a:solidFill>
              </a:rPr>
              <a:t>Maker-checker enforced by the system</a:t>
            </a:r>
            <a:endParaRPr lang="en-US" sz="1400" dirty="0"/>
          </a:p>
          <a:p>
            <a:pPr marL="342900" indent="-342900">
              <a:spcAft>
                <a:spcPts val="600"/>
              </a:spcAft>
              <a:buSzPct val="100000"/>
              <a:buChar char="•"/>
            </a:pPr>
            <a:r>
              <a:rPr lang="en-US" sz="1400" dirty="0">
                <a:solidFill>
                  <a:schemeClr val="accent5"/>
                </a:solidFill>
              </a:rPr>
              <a:t>Audit trail, monthly report, incident playbook</a:t>
            </a:r>
            <a:endParaRPr lang="en-US" sz="1400" dirty="0"/>
          </a:p>
        </p:txBody>
      </p:sp>
      <p:sp>
        <p:nvSpPr>
          <p:cNvPr id="24" name="footnot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accent5"/>
                </a:solidFill>
              </a:rPr>
              <a:t>Simulation on synthetic data, Aug-Oct 2026, 450 customers. As-Is effort assumed at 4 minutes per letter.</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Every month, letters carrying the customer's NIK are emailed to the customer with the branch in CC</a:t>
            </a:r>
            <a:endParaRPr lang="en-US" sz="2400" dirty="0"/>
          </a:p>
        </p:txBody>
      </p:sp>
      <p:sp>
        <p:nvSpPr>
          <p:cNvPr id="3" name="Send list card"/>
          <p:cNvSpPr/>
          <p:nvPr/>
        </p:nvSpPr>
        <p:spPr>
          <a:xfrm>
            <a:off x="548640" y="1737360"/>
            <a:ext cx="2103120" cy="2743200"/>
          </a:xfrm>
          <a:prstGeom prst="roundRect">
            <a:avLst>
              <a:gd name="adj" fmla="val 3478"/>
            </a:avLst>
          </a:prstGeom>
          <a:solidFill>
            <a:schemeClr val="bg2"/>
          </a:solidFill>
          <a:ln w="12700">
            <a:solidFill>
              <a:schemeClr val="bg2"/>
            </a:solidFill>
            <a:prstDash val="solid"/>
          </a:ln>
        </p:spPr>
      </p:sp>
      <p:sp>
        <p:nvSpPr>
          <p:cNvPr id="4" name="Send list circle"/>
          <p:cNvSpPr/>
          <p:nvPr/>
        </p:nvSpPr>
        <p:spPr>
          <a:xfrm>
            <a:off x="1234440" y="2011680"/>
            <a:ext cx="731520" cy="731520"/>
          </a:xfrm>
          <a:prstGeom prst="ellipse">
            <a:avLst/>
          </a:prstGeom>
          <a:solidFill>
            <a:schemeClr val="accent1"/>
          </a:solidFill>
          <a:ln w="12700">
            <a:solidFill>
              <a:schemeClr val="accent1"/>
            </a:solidFill>
            <a:prstDash val="solid"/>
          </a:ln>
        </p:spPr>
      </p:sp>
      <p:pic>
        <p:nvPicPr>
          <p:cNvPr id="5" name="Send list icon" descr="preencoded.png">    </p:cNvPr>
          <p:cNvPicPr>
            <a:picLocks noChangeAspect="1"/>
          </p:cNvPicPr>
          <p:nvPr/>
        </p:nvPicPr>
        <p:blipFill>
          <a:blip r:embed="rId1"/>
          <a:stretch>
            <a:fillRect/>
          </a:stretch>
        </p:blipFill>
        <p:spPr>
          <a:xfrm>
            <a:off x="1410005" y="2187245"/>
            <a:ext cx="380390" cy="380390"/>
          </a:xfrm>
          <a:prstGeom prst="rect">
            <a:avLst/>
          </a:prstGeom>
        </p:spPr>
      </p:pic>
      <p:sp>
        <p:nvSpPr>
          <p:cNvPr id="6" name="Send list label"/>
          <p:cNvSpPr txBox="1"/>
          <p:nvPr/>
        </p:nvSpPr>
        <p:spPr>
          <a:xfrm>
            <a:off x="685800" y="2880360"/>
            <a:ext cx="1828800" cy="411480"/>
          </a:xfrm>
          <a:prstGeom prst="rect">
            <a:avLst/>
          </a:prstGeom>
          <a:noFill/>
          <a:ln/>
        </p:spPr>
        <p:txBody>
          <a:bodyPr wrap="square" lIns="0" tIns="0" rIns="0" bIns="0" rtlCol="0" anchor="ctr"/>
          <a:lstStyle/>
          <a:p>
            <a:pPr algn="ctr" indent="0" marL="0">
              <a:buNone/>
            </a:pPr>
            <a:r>
              <a:rPr lang="en-US" sz="1700" b="1" dirty="0">
                <a:solidFill>
                  <a:schemeClr val="tx2"/>
                </a:solidFill>
              </a:rPr>
              <a:t>Send list</a:t>
            </a:r>
            <a:endParaRPr lang="en-US" sz="1700" dirty="0"/>
          </a:p>
        </p:txBody>
      </p:sp>
      <p:sp>
        <p:nvSpPr>
          <p:cNvPr id="7" name="Send list desc"/>
          <p:cNvSpPr txBox="1"/>
          <p:nvPr/>
        </p:nvSpPr>
        <p:spPr>
          <a:xfrm>
            <a:off x="685800" y="3337560"/>
            <a:ext cx="1828800" cy="914400"/>
          </a:xfrm>
          <a:prstGeom prst="rect">
            <a:avLst/>
          </a:prstGeom>
          <a:noFill/>
          <a:ln/>
        </p:spPr>
        <p:txBody>
          <a:bodyPr wrap="square" lIns="0" tIns="0" rIns="0" bIns="0" rtlCol="0" anchor="t"/>
          <a:lstStyle/>
          <a:p>
            <a:pPr algn="ctr" indent="0" marL="0">
              <a:buNone/>
            </a:pPr>
            <a:r>
              <a:rPr lang="en-US" sz="1400" dirty="0">
                <a:solidFill>
                  <a:schemeClr val="tx1"/>
                </a:solidFill>
              </a:rPr>
              <a:t>Customers due a letter this month</a:t>
            </a:r>
            <a:endParaRPr lang="en-US" sz="1400" dirty="0"/>
          </a:p>
        </p:txBody>
      </p:sp>
      <p:sp>
        <p:nvSpPr>
          <p:cNvPr id="8" name="arrow 0"/>
          <p:cNvSpPr/>
          <p:nvPr/>
        </p:nvSpPr>
        <p:spPr>
          <a:xfrm>
            <a:off x="2715768" y="2926080"/>
            <a:ext cx="301752" cy="365760"/>
          </a:xfrm>
          <a:prstGeom prst="rightArrow">
            <a:avLst/>
          </a:prstGeom>
          <a:solidFill>
            <a:schemeClr val="accent5"/>
          </a:solidFill>
          <a:ln w="12700">
            <a:solidFill>
              <a:schemeClr val="accent5"/>
            </a:solidFill>
            <a:prstDash val="solid"/>
          </a:ln>
        </p:spPr>
      </p:sp>
      <p:sp>
        <p:nvSpPr>
          <p:cNvPr id="9" name="Letter PDF card"/>
          <p:cNvSpPr/>
          <p:nvPr/>
        </p:nvSpPr>
        <p:spPr>
          <a:xfrm>
            <a:off x="3063240" y="1737360"/>
            <a:ext cx="2103120" cy="2743200"/>
          </a:xfrm>
          <a:prstGeom prst="roundRect">
            <a:avLst>
              <a:gd name="adj" fmla="val 3478"/>
            </a:avLst>
          </a:prstGeom>
          <a:solidFill>
            <a:schemeClr val="bg2"/>
          </a:solidFill>
          <a:ln w="12700">
            <a:solidFill>
              <a:schemeClr val="bg2"/>
            </a:solidFill>
            <a:prstDash val="solid"/>
          </a:ln>
        </p:spPr>
      </p:sp>
      <p:sp>
        <p:nvSpPr>
          <p:cNvPr id="10" name="Letter PDF circle"/>
          <p:cNvSpPr/>
          <p:nvPr/>
        </p:nvSpPr>
        <p:spPr>
          <a:xfrm>
            <a:off x="3749040" y="2011680"/>
            <a:ext cx="731520" cy="731520"/>
          </a:xfrm>
          <a:prstGeom prst="ellipse">
            <a:avLst/>
          </a:prstGeom>
          <a:solidFill>
            <a:schemeClr val="accent1"/>
          </a:solidFill>
          <a:ln w="12700">
            <a:solidFill>
              <a:schemeClr val="accent1"/>
            </a:solidFill>
            <a:prstDash val="solid"/>
          </a:ln>
        </p:spPr>
      </p:sp>
      <p:pic>
        <p:nvPicPr>
          <p:cNvPr id="11" name="Letter PDF icon" descr="preencoded.png">    </p:cNvPr>
          <p:cNvPicPr>
            <a:picLocks noChangeAspect="1"/>
          </p:cNvPicPr>
          <p:nvPr/>
        </p:nvPicPr>
        <p:blipFill>
          <a:blip r:embed="rId2"/>
          <a:stretch>
            <a:fillRect/>
          </a:stretch>
        </p:blipFill>
        <p:spPr>
          <a:xfrm>
            <a:off x="3924605" y="2187245"/>
            <a:ext cx="380390" cy="380390"/>
          </a:xfrm>
          <a:prstGeom prst="rect">
            <a:avLst/>
          </a:prstGeom>
        </p:spPr>
      </p:pic>
      <p:sp>
        <p:nvSpPr>
          <p:cNvPr id="12" name="Letter PDF label"/>
          <p:cNvSpPr txBox="1"/>
          <p:nvPr/>
        </p:nvSpPr>
        <p:spPr>
          <a:xfrm>
            <a:off x="3200400" y="2880360"/>
            <a:ext cx="1828800" cy="411480"/>
          </a:xfrm>
          <a:prstGeom prst="rect">
            <a:avLst/>
          </a:prstGeom>
          <a:noFill/>
          <a:ln/>
        </p:spPr>
        <p:txBody>
          <a:bodyPr wrap="square" lIns="0" tIns="0" rIns="0" bIns="0" rtlCol="0" anchor="ctr"/>
          <a:lstStyle/>
          <a:p>
            <a:pPr algn="ctr" indent="0" marL="0">
              <a:buNone/>
            </a:pPr>
            <a:r>
              <a:rPr lang="en-US" sz="1700" b="1" dirty="0">
                <a:solidFill>
                  <a:schemeClr val="tx2"/>
                </a:solidFill>
              </a:rPr>
              <a:t>Letter PDF</a:t>
            </a:r>
            <a:endParaRPr lang="en-US" sz="1700" dirty="0"/>
          </a:p>
        </p:txBody>
      </p:sp>
      <p:sp>
        <p:nvSpPr>
          <p:cNvPr id="13" name="Letter PDF desc"/>
          <p:cNvSpPr txBox="1"/>
          <p:nvPr/>
        </p:nvSpPr>
        <p:spPr>
          <a:xfrm>
            <a:off x="3200400" y="3337560"/>
            <a:ext cx="1828800" cy="914400"/>
          </a:xfrm>
          <a:prstGeom prst="rect">
            <a:avLst/>
          </a:prstGeom>
          <a:noFill/>
          <a:ln/>
        </p:spPr>
        <p:txBody>
          <a:bodyPr wrap="square" lIns="0" tIns="0" rIns="0" bIns="0" rtlCol="0" anchor="t"/>
          <a:lstStyle/>
          <a:p>
            <a:pPr algn="ctr" indent="0" marL="0">
              <a:buNone/>
            </a:pPr>
            <a:r>
              <a:rPr lang="en-US" sz="1400" dirty="0">
                <a:solidFill>
                  <a:schemeClr val="tx1"/>
                </a:solidFill>
              </a:rPr>
              <a:t>Name, policy number and NIK</a:t>
            </a:r>
            <a:endParaRPr lang="en-US" sz="1400" dirty="0"/>
          </a:p>
        </p:txBody>
      </p:sp>
      <p:sp>
        <p:nvSpPr>
          <p:cNvPr id="14" name="arrow 1"/>
          <p:cNvSpPr/>
          <p:nvPr/>
        </p:nvSpPr>
        <p:spPr>
          <a:xfrm>
            <a:off x="5230368" y="2926080"/>
            <a:ext cx="301752" cy="365760"/>
          </a:xfrm>
          <a:prstGeom prst="rightArrow">
            <a:avLst/>
          </a:prstGeom>
          <a:solidFill>
            <a:schemeClr val="accent5"/>
          </a:solidFill>
          <a:ln w="12700">
            <a:solidFill>
              <a:schemeClr val="accent5"/>
            </a:solidFill>
            <a:prstDash val="solid"/>
          </a:ln>
        </p:spPr>
      </p:sp>
      <p:sp>
        <p:nvSpPr>
          <p:cNvPr id="15" name="Email card"/>
          <p:cNvSpPr/>
          <p:nvPr/>
        </p:nvSpPr>
        <p:spPr>
          <a:xfrm>
            <a:off x="5577840" y="1737360"/>
            <a:ext cx="2103120" cy="2743200"/>
          </a:xfrm>
          <a:prstGeom prst="roundRect">
            <a:avLst>
              <a:gd name="adj" fmla="val 3478"/>
            </a:avLst>
          </a:prstGeom>
          <a:solidFill>
            <a:schemeClr val="bg2"/>
          </a:solidFill>
          <a:ln w="12700">
            <a:solidFill>
              <a:schemeClr val="bg2"/>
            </a:solidFill>
            <a:prstDash val="solid"/>
          </a:ln>
        </p:spPr>
      </p:sp>
      <p:sp>
        <p:nvSpPr>
          <p:cNvPr id="16" name="Email circle"/>
          <p:cNvSpPr/>
          <p:nvPr/>
        </p:nvSpPr>
        <p:spPr>
          <a:xfrm>
            <a:off x="6263640" y="2011680"/>
            <a:ext cx="731520" cy="731520"/>
          </a:xfrm>
          <a:prstGeom prst="ellipse">
            <a:avLst/>
          </a:prstGeom>
          <a:solidFill>
            <a:schemeClr val="accent1"/>
          </a:solidFill>
          <a:ln w="12700">
            <a:solidFill>
              <a:schemeClr val="accent1"/>
            </a:solidFill>
            <a:prstDash val="solid"/>
          </a:ln>
        </p:spPr>
      </p:sp>
      <p:pic>
        <p:nvPicPr>
          <p:cNvPr id="17" name="Email icon" descr="preencoded.png">    </p:cNvPr>
          <p:cNvPicPr>
            <a:picLocks noChangeAspect="1"/>
          </p:cNvPicPr>
          <p:nvPr/>
        </p:nvPicPr>
        <p:blipFill>
          <a:blip r:embed="rId3"/>
          <a:stretch>
            <a:fillRect/>
          </a:stretch>
        </p:blipFill>
        <p:spPr>
          <a:xfrm>
            <a:off x="6439205" y="2187245"/>
            <a:ext cx="380390" cy="380390"/>
          </a:xfrm>
          <a:prstGeom prst="rect">
            <a:avLst/>
          </a:prstGeom>
        </p:spPr>
      </p:pic>
      <p:sp>
        <p:nvSpPr>
          <p:cNvPr id="18" name="Email label"/>
          <p:cNvSpPr txBox="1"/>
          <p:nvPr/>
        </p:nvSpPr>
        <p:spPr>
          <a:xfrm>
            <a:off x="5715000" y="2880360"/>
            <a:ext cx="1828800" cy="411480"/>
          </a:xfrm>
          <a:prstGeom prst="rect">
            <a:avLst/>
          </a:prstGeom>
          <a:noFill/>
          <a:ln/>
        </p:spPr>
        <p:txBody>
          <a:bodyPr wrap="square" lIns="0" tIns="0" rIns="0" bIns="0" rtlCol="0" anchor="ctr"/>
          <a:lstStyle/>
          <a:p>
            <a:pPr algn="ctr" indent="0" marL="0">
              <a:buNone/>
            </a:pPr>
            <a:r>
              <a:rPr lang="en-US" sz="1700" b="1" dirty="0">
                <a:solidFill>
                  <a:schemeClr val="tx2"/>
                </a:solidFill>
              </a:rPr>
              <a:t>Email</a:t>
            </a:r>
            <a:endParaRPr lang="en-US" sz="1700" dirty="0"/>
          </a:p>
        </p:txBody>
      </p:sp>
      <p:sp>
        <p:nvSpPr>
          <p:cNvPr id="19" name="Email desc"/>
          <p:cNvSpPr txBox="1"/>
          <p:nvPr/>
        </p:nvSpPr>
        <p:spPr>
          <a:xfrm>
            <a:off x="5715000" y="3337560"/>
            <a:ext cx="1828800" cy="914400"/>
          </a:xfrm>
          <a:prstGeom prst="rect">
            <a:avLst/>
          </a:prstGeom>
          <a:noFill/>
          <a:ln/>
        </p:spPr>
        <p:txBody>
          <a:bodyPr wrap="square" lIns="0" tIns="0" rIns="0" bIns="0" rtlCol="0" anchor="t"/>
          <a:lstStyle/>
          <a:p>
            <a:pPr algn="ctr" indent="0" marL="0">
              <a:buNone/>
            </a:pPr>
            <a:r>
              <a:rPr lang="en-US" sz="1400" dirty="0">
                <a:solidFill>
                  <a:schemeClr val="tx1"/>
                </a:solidFill>
              </a:rPr>
              <a:t>To: the customer</a:t>
            </a:r>
            <a:endParaRPr lang="en-US" sz="1400" dirty="0"/>
          </a:p>
          <a:p>
            <a:pPr algn="ctr" indent="0" marL="0">
              <a:buNone/>
            </a:pPr>
            <a:r>
              <a:rPr lang="en-US" sz="1400" dirty="0">
                <a:solidFill>
                  <a:schemeClr val="tx1"/>
                </a:solidFill>
              </a:rPr>
              <a:t>CC: their servicing branch</a:t>
            </a:r>
            <a:endParaRPr lang="en-US" sz="1400" dirty="0"/>
          </a:p>
        </p:txBody>
      </p:sp>
      <p:sp>
        <p:nvSpPr>
          <p:cNvPr id="20" name="fact number 0"/>
          <p:cNvSpPr txBox="1"/>
          <p:nvPr/>
        </p:nvSpPr>
        <p:spPr>
          <a:xfrm>
            <a:off x="8366760" y="1600200"/>
            <a:ext cx="109728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450</a:t>
            </a:r>
            <a:endParaRPr lang="en-US" sz="3600" dirty="0"/>
          </a:p>
        </p:txBody>
      </p:sp>
      <p:sp>
        <p:nvSpPr>
          <p:cNvPr id="21" name="fact text 0"/>
          <p:cNvSpPr txBox="1"/>
          <p:nvPr/>
        </p:nvSpPr>
        <p:spPr>
          <a:xfrm>
            <a:off x="9509760" y="1600200"/>
            <a:ext cx="2103120" cy="777240"/>
          </a:xfrm>
          <a:prstGeom prst="rect">
            <a:avLst/>
          </a:prstGeom>
          <a:noFill/>
          <a:ln/>
        </p:spPr>
        <p:txBody>
          <a:bodyPr wrap="square" lIns="0" tIns="0" rIns="0" bIns="0" rtlCol="0" anchor="ctr"/>
          <a:lstStyle/>
          <a:p>
            <a:pPr indent="0" marL="0">
              <a:buNone/>
            </a:pPr>
            <a:r>
              <a:rPr lang="en-US" sz="1400" dirty="0">
                <a:solidFill>
                  <a:schemeClr val="tx1"/>
                </a:solidFill>
              </a:rPr>
              <a:t>customers across 3 monthly batches</a:t>
            </a:r>
            <a:endParaRPr lang="en-US" sz="1400" dirty="0"/>
          </a:p>
        </p:txBody>
      </p:sp>
      <p:sp>
        <p:nvSpPr>
          <p:cNvPr id="22" name="fact number 1"/>
          <p:cNvSpPr txBox="1"/>
          <p:nvPr/>
        </p:nvSpPr>
        <p:spPr>
          <a:xfrm>
            <a:off x="8366760" y="2624328"/>
            <a:ext cx="109728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3</a:t>
            </a:r>
            <a:endParaRPr lang="en-US" sz="3600" dirty="0"/>
          </a:p>
        </p:txBody>
      </p:sp>
      <p:sp>
        <p:nvSpPr>
          <p:cNvPr id="23" name="fact text 1"/>
          <p:cNvSpPr txBox="1"/>
          <p:nvPr/>
        </p:nvSpPr>
        <p:spPr>
          <a:xfrm>
            <a:off x="9509760" y="2624328"/>
            <a:ext cx="2103120" cy="777240"/>
          </a:xfrm>
          <a:prstGeom prst="rect">
            <a:avLst/>
          </a:prstGeom>
          <a:noFill/>
          <a:ln/>
        </p:spPr>
        <p:txBody>
          <a:bodyPr wrap="square" lIns="0" tIns="0" rIns="0" bIns="0" rtlCol="0" anchor="ctr"/>
          <a:lstStyle/>
          <a:p>
            <a:pPr indent="0" marL="0">
              <a:buNone/>
            </a:pPr>
            <a:r>
              <a:rPr lang="en-US" sz="1400" dirty="0">
                <a:solidFill>
                  <a:schemeClr val="tx1"/>
                </a:solidFill>
              </a:rPr>
              <a:t>letter types: maturity, benefit payment, reinstatement</a:t>
            </a:r>
            <a:endParaRPr lang="en-US" sz="1400" dirty="0"/>
          </a:p>
        </p:txBody>
      </p:sp>
      <p:sp>
        <p:nvSpPr>
          <p:cNvPr id="24" name="fact number 2"/>
          <p:cNvSpPr txBox="1"/>
          <p:nvPr/>
        </p:nvSpPr>
        <p:spPr>
          <a:xfrm>
            <a:off x="8366760" y="3648456"/>
            <a:ext cx="109728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6</a:t>
            </a:r>
            <a:endParaRPr lang="en-US" sz="3600" dirty="0"/>
          </a:p>
        </p:txBody>
      </p:sp>
      <p:sp>
        <p:nvSpPr>
          <p:cNvPr id="25" name="fact text 2"/>
          <p:cNvSpPr txBox="1"/>
          <p:nvPr/>
        </p:nvSpPr>
        <p:spPr>
          <a:xfrm>
            <a:off x="9509760" y="3648456"/>
            <a:ext cx="2103120" cy="777240"/>
          </a:xfrm>
          <a:prstGeom prst="rect">
            <a:avLst/>
          </a:prstGeom>
          <a:noFill/>
          <a:ln/>
        </p:spPr>
        <p:txBody>
          <a:bodyPr wrap="square" lIns="0" tIns="0" rIns="0" bIns="0" rtlCol="0" anchor="ctr"/>
          <a:lstStyle/>
          <a:p>
            <a:pPr indent="0" marL="0">
              <a:buNone/>
            </a:pPr>
            <a:r>
              <a:rPr lang="en-US" sz="1400" dirty="0">
                <a:solidFill>
                  <a:schemeClr val="tx1"/>
                </a:solidFill>
              </a:rPr>
              <a:t>branches, each allowed to see only its own customers</a:t>
            </a:r>
            <a:endParaRPr lang="en-US" sz="1400" dirty="0"/>
          </a:p>
        </p:txBody>
      </p:sp>
      <p:sp>
        <p:nvSpPr>
          <p:cNvPr id="26" name="fact number 3"/>
          <p:cNvSpPr txBox="1"/>
          <p:nvPr/>
        </p:nvSpPr>
        <p:spPr>
          <a:xfrm>
            <a:off x="8366760" y="4672584"/>
            <a:ext cx="109728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1</a:t>
            </a:r>
            <a:endParaRPr lang="en-US" sz="3600" dirty="0"/>
          </a:p>
        </p:txBody>
      </p:sp>
      <p:sp>
        <p:nvSpPr>
          <p:cNvPr id="27" name="fact text 3"/>
          <p:cNvSpPr txBox="1"/>
          <p:nvPr/>
        </p:nvSpPr>
        <p:spPr>
          <a:xfrm>
            <a:off x="9509760" y="4672584"/>
            <a:ext cx="2103120" cy="777240"/>
          </a:xfrm>
          <a:prstGeom prst="rect">
            <a:avLst/>
          </a:prstGeom>
          <a:noFill/>
          <a:ln/>
        </p:spPr>
        <p:txBody>
          <a:bodyPr wrap="square" lIns="0" tIns="0" rIns="0" bIns="0" rtlCol="0" anchor="ctr"/>
          <a:lstStyle/>
          <a:p>
            <a:pPr indent="0" marL="0">
              <a:buNone/>
            </a:pPr>
            <a:r>
              <a:rPr lang="en-US" sz="1400" dirty="0">
                <a:solidFill>
                  <a:schemeClr val="tx1"/>
                </a:solidFill>
              </a:rPr>
              <a:t>NIK in every single letter</a:t>
            </a:r>
            <a:endParaRPr lang="en-US" sz="1400" dirty="0"/>
          </a:p>
        </p:txBody>
      </p:sp>
      <p:sp>
        <p:nvSpPr>
          <p:cNvPr id="28" name="regulatory note"/>
          <p:cNvSpPr txBox="1"/>
          <p:nvPr/>
        </p:nvSpPr>
        <p:spPr>
          <a:xfrm>
            <a:off x="548640" y="4846320"/>
            <a:ext cx="7315200" cy="731520"/>
          </a:xfrm>
          <a:prstGeom prst="rect">
            <a:avLst/>
          </a:prstGeom>
          <a:noFill/>
          <a:ln/>
        </p:spPr>
        <p:txBody>
          <a:bodyPr wrap="square" lIns="0" tIns="0" rIns="0" bIns="0" rtlCol="0" anchor="t"/>
          <a:lstStyle/>
          <a:p>
            <a:pPr indent="0" marL="0">
              <a:buNone/>
            </a:pPr>
            <a:r>
              <a:rPr lang="en-US" sz="1400" b="1" dirty="0">
                <a:solidFill>
                  <a:schemeClr val="accent3"/>
                </a:solidFill>
              </a:rPr>
              <a:t>Under UU PDP (Law No. 27/2022), a letter that reaches the wrong person is a personal data protection failure that must be reported within 3 x 24 hours.</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Done by hand, the process is slow and every manual step is a chance for personal data to leak</a:t>
            </a:r>
            <a:endParaRPr lang="en-US" sz="2400" dirty="0"/>
          </a:p>
        </p:txBody>
      </p:sp>
      <p:sp>
        <p:nvSpPr>
          <p:cNvPr id="3" name="as-is step 1"/>
          <p:cNvSpPr/>
          <p:nvPr/>
        </p:nvSpPr>
        <p:spPr>
          <a:xfrm>
            <a:off x="548640" y="1600200"/>
            <a:ext cx="1965960" cy="1143000"/>
          </a:xfrm>
          <a:prstGeom prst="roundRect">
            <a:avLst>
              <a:gd name="adj" fmla="val 6400"/>
            </a:avLst>
          </a:prstGeom>
          <a:solidFill>
            <a:schemeClr val="bg1"/>
          </a:solidFill>
          <a:ln w="15875">
            <a:solidFill>
              <a:schemeClr val="tx2"/>
            </a:solidFill>
            <a:prstDash val="solid"/>
          </a:ln>
        </p:spPr>
      </p:sp>
      <p:sp>
        <p:nvSpPr>
          <p:cNvPr id="4" name="as-is step text 1"/>
          <p:cNvSpPr txBox="1"/>
          <p:nvPr/>
        </p:nvSpPr>
        <p:spPr>
          <a:xfrm>
            <a:off x="685800" y="1645920"/>
            <a:ext cx="1691640" cy="1051560"/>
          </a:xfrm>
          <a:prstGeom prst="rect">
            <a:avLst/>
          </a:prstGeom>
          <a:noFill/>
          <a:ln/>
        </p:spPr>
        <p:txBody>
          <a:bodyPr wrap="square" lIns="0" tIns="0" rIns="0" bIns="0" rtlCol="0" anchor="ctr"/>
          <a:lstStyle/>
          <a:p>
            <a:pPr algn="ctr" indent="0" marL="0">
              <a:buNone/>
            </a:pPr>
            <a:r>
              <a:rPr lang="en-US" sz="1400" b="1" dirty="0">
                <a:solidFill>
                  <a:schemeClr val="accent5"/>
                </a:solidFill>
              </a:rPr>
              <a:t>1</a:t>
            </a:r>
            <a:endParaRPr lang="en-US" sz="1400" dirty="0"/>
          </a:p>
          <a:p>
            <a:pPr algn="ctr" indent="0" marL="0">
              <a:buNone/>
            </a:pPr>
            <a:r>
              <a:rPr lang="en-US" sz="1400" dirty="0">
                <a:solidFill>
                  <a:schemeClr val="tx2"/>
                </a:solidFill>
              </a:rPr>
              <a:t>Match PDF to the list by eye</a:t>
            </a:r>
            <a:endParaRPr lang="en-US" sz="1400" dirty="0"/>
          </a:p>
        </p:txBody>
      </p:sp>
      <p:sp>
        <p:nvSpPr>
          <p:cNvPr id="5" name="as-is arrow 0"/>
          <p:cNvSpPr/>
          <p:nvPr/>
        </p:nvSpPr>
        <p:spPr>
          <a:xfrm>
            <a:off x="2560320" y="2029968"/>
            <a:ext cx="182880" cy="274320"/>
          </a:xfrm>
          <a:prstGeom prst="rightArrow">
            <a:avLst/>
          </a:prstGeom>
          <a:solidFill>
            <a:schemeClr val="accent5"/>
          </a:solidFill>
          <a:ln w="12700">
            <a:solidFill>
              <a:schemeClr val="accent5"/>
            </a:solidFill>
            <a:prstDash val="solid"/>
          </a:ln>
        </p:spPr>
      </p:sp>
      <p:sp>
        <p:nvSpPr>
          <p:cNvPr id="6" name="risk 1"/>
          <p:cNvSpPr/>
          <p:nvPr/>
        </p:nvSpPr>
        <p:spPr>
          <a:xfrm>
            <a:off x="548640" y="2971800"/>
            <a:ext cx="1965960" cy="1051560"/>
          </a:xfrm>
          <a:prstGeom prst="roundRect">
            <a:avLst>
              <a:gd name="adj" fmla="val 6957"/>
            </a:avLst>
          </a:prstGeom>
          <a:solidFill>
            <a:srgbClr val="FBF1E0"/>
          </a:solidFill>
          <a:ln w="12700">
            <a:solidFill>
              <a:srgbClr val="FBF1E0"/>
            </a:solidFill>
            <a:prstDash val="solid"/>
          </a:ln>
        </p:spPr>
      </p:sp>
      <p:sp>
        <p:nvSpPr>
          <p:cNvPr id="7" name="risk text 1"/>
          <p:cNvSpPr txBox="1"/>
          <p:nvPr/>
        </p:nvSpPr>
        <p:spPr>
          <a:xfrm>
            <a:off x="685800" y="3017520"/>
            <a:ext cx="1691640" cy="960120"/>
          </a:xfrm>
          <a:prstGeom prst="rect">
            <a:avLst/>
          </a:prstGeom>
          <a:noFill/>
          <a:ln/>
        </p:spPr>
        <p:txBody>
          <a:bodyPr wrap="square" lIns="0" tIns="0" rIns="0" bIns="0" rtlCol="0" anchor="ctr"/>
          <a:lstStyle/>
          <a:p>
            <a:pPr algn="ctr" indent="0" marL="0">
              <a:buNone/>
            </a:pPr>
            <a:r>
              <a:rPr lang="en-US" sz="1100" b="1" dirty="0">
                <a:solidFill>
                  <a:srgbClr val="8A5404"/>
                </a:solidFill>
              </a:rPr>
              <a:t>Risk</a:t>
            </a:r>
            <a:endParaRPr lang="en-US" sz="1400" dirty="0"/>
          </a:p>
          <a:p>
            <a:pPr algn="ctr" indent="0" marL="0">
              <a:buNone/>
            </a:pPr>
            <a:r>
              <a:rPr lang="en-US" sz="1400" dirty="0">
                <a:solidFill>
                  <a:srgbClr val="8A5404"/>
                </a:solidFill>
              </a:rPr>
              <a:t>Wrong customer's letter attached</a:t>
            </a:r>
            <a:endParaRPr lang="en-US" sz="1400" dirty="0"/>
          </a:p>
        </p:txBody>
      </p:sp>
      <p:sp>
        <p:nvSpPr>
          <p:cNvPr id="8" name="as-is step 2"/>
          <p:cNvSpPr/>
          <p:nvPr/>
        </p:nvSpPr>
        <p:spPr>
          <a:xfrm>
            <a:off x="2788920" y="1600200"/>
            <a:ext cx="1965960" cy="1143000"/>
          </a:xfrm>
          <a:prstGeom prst="roundRect">
            <a:avLst>
              <a:gd name="adj" fmla="val 6400"/>
            </a:avLst>
          </a:prstGeom>
          <a:solidFill>
            <a:schemeClr val="bg1"/>
          </a:solidFill>
          <a:ln w="15875">
            <a:solidFill>
              <a:schemeClr val="tx2"/>
            </a:solidFill>
            <a:prstDash val="solid"/>
          </a:ln>
        </p:spPr>
      </p:sp>
      <p:sp>
        <p:nvSpPr>
          <p:cNvPr id="9" name="as-is step text 2"/>
          <p:cNvSpPr txBox="1"/>
          <p:nvPr/>
        </p:nvSpPr>
        <p:spPr>
          <a:xfrm>
            <a:off x="2926080" y="1645920"/>
            <a:ext cx="1691640" cy="1051560"/>
          </a:xfrm>
          <a:prstGeom prst="rect">
            <a:avLst/>
          </a:prstGeom>
          <a:noFill/>
          <a:ln/>
        </p:spPr>
        <p:txBody>
          <a:bodyPr wrap="square" lIns="0" tIns="0" rIns="0" bIns="0" rtlCol="0" anchor="ctr"/>
          <a:lstStyle/>
          <a:p>
            <a:pPr algn="ctr" indent="0" marL="0">
              <a:buNone/>
            </a:pPr>
            <a:r>
              <a:rPr lang="en-US" sz="1400" b="1" dirty="0">
                <a:solidFill>
                  <a:schemeClr val="accent5"/>
                </a:solidFill>
              </a:rPr>
              <a:t>2</a:t>
            </a:r>
            <a:endParaRPr lang="en-US" sz="1400" dirty="0"/>
          </a:p>
          <a:p>
            <a:pPr algn="ctr" indent="0" marL="0">
              <a:buNone/>
            </a:pPr>
            <a:r>
              <a:rPr lang="en-US" sz="1400" dirty="0">
                <a:solidFill>
                  <a:schemeClr val="tx2"/>
                </a:solidFill>
              </a:rPr>
              <a:t>Copy the customer email</a:t>
            </a:r>
            <a:endParaRPr lang="en-US" sz="1400" dirty="0"/>
          </a:p>
        </p:txBody>
      </p:sp>
      <p:sp>
        <p:nvSpPr>
          <p:cNvPr id="10" name="as-is arrow 1"/>
          <p:cNvSpPr/>
          <p:nvPr/>
        </p:nvSpPr>
        <p:spPr>
          <a:xfrm>
            <a:off x="4800600" y="2029968"/>
            <a:ext cx="182880" cy="274320"/>
          </a:xfrm>
          <a:prstGeom prst="rightArrow">
            <a:avLst/>
          </a:prstGeom>
          <a:solidFill>
            <a:schemeClr val="accent5"/>
          </a:solidFill>
          <a:ln w="12700">
            <a:solidFill>
              <a:schemeClr val="accent5"/>
            </a:solidFill>
            <a:prstDash val="solid"/>
          </a:ln>
        </p:spPr>
      </p:sp>
      <p:sp>
        <p:nvSpPr>
          <p:cNvPr id="11" name="risk 2"/>
          <p:cNvSpPr/>
          <p:nvPr/>
        </p:nvSpPr>
        <p:spPr>
          <a:xfrm>
            <a:off x="2788920" y="2971800"/>
            <a:ext cx="1965960" cy="1051560"/>
          </a:xfrm>
          <a:prstGeom prst="roundRect">
            <a:avLst>
              <a:gd name="adj" fmla="val 6957"/>
            </a:avLst>
          </a:prstGeom>
          <a:solidFill>
            <a:srgbClr val="FBF1E0"/>
          </a:solidFill>
          <a:ln w="12700">
            <a:solidFill>
              <a:srgbClr val="FBF1E0"/>
            </a:solidFill>
            <a:prstDash val="solid"/>
          </a:ln>
        </p:spPr>
      </p:sp>
      <p:sp>
        <p:nvSpPr>
          <p:cNvPr id="12" name="risk text 2"/>
          <p:cNvSpPr txBox="1"/>
          <p:nvPr/>
        </p:nvSpPr>
        <p:spPr>
          <a:xfrm>
            <a:off x="2926080" y="3017520"/>
            <a:ext cx="1691640" cy="960120"/>
          </a:xfrm>
          <a:prstGeom prst="rect">
            <a:avLst/>
          </a:prstGeom>
          <a:noFill/>
          <a:ln/>
        </p:spPr>
        <p:txBody>
          <a:bodyPr wrap="square" lIns="0" tIns="0" rIns="0" bIns="0" rtlCol="0" anchor="ctr"/>
          <a:lstStyle/>
          <a:p>
            <a:pPr algn="ctr" indent="0" marL="0">
              <a:buNone/>
            </a:pPr>
            <a:r>
              <a:rPr lang="en-US" sz="1100" b="1" dirty="0">
                <a:solidFill>
                  <a:srgbClr val="8A5404"/>
                </a:solidFill>
              </a:rPr>
              <a:t>Risk</a:t>
            </a:r>
            <a:endParaRPr lang="en-US" sz="1400" dirty="0"/>
          </a:p>
          <a:p>
            <a:pPr algn="ctr" indent="0" marL="0">
              <a:buNone/>
            </a:pPr>
            <a:r>
              <a:rPr lang="en-US" sz="1400" dirty="0">
                <a:solidFill>
                  <a:srgbClr val="8A5404"/>
                </a:solidFill>
              </a:rPr>
              <a:t>Old or mistyped address</a:t>
            </a:r>
            <a:endParaRPr lang="en-US" sz="1400" dirty="0"/>
          </a:p>
        </p:txBody>
      </p:sp>
      <p:sp>
        <p:nvSpPr>
          <p:cNvPr id="13" name="as-is step 3"/>
          <p:cNvSpPr/>
          <p:nvPr/>
        </p:nvSpPr>
        <p:spPr>
          <a:xfrm>
            <a:off x="5029200" y="1600200"/>
            <a:ext cx="1965960" cy="1143000"/>
          </a:xfrm>
          <a:prstGeom prst="roundRect">
            <a:avLst>
              <a:gd name="adj" fmla="val 6400"/>
            </a:avLst>
          </a:prstGeom>
          <a:solidFill>
            <a:schemeClr val="bg1"/>
          </a:solidFill>
          <a:ln w="15875">
            <a:solidFill>
              <a:schemeClr val="tx2"/>
            </a:solidFill>
            <a:prstDash val="solid"/>
          </a:ln>
        </p:spPr>
      </p:sp>
      <p:sp>
        <p:nvSpPr>
          <p:cNvPr id="14" name="as-is step text 3"/>
          <p:cNvSpPr txBox="1"/>
          <p:nvPr/>
        </p:nvSpPr>
        <p:spPr>
          <a:xfrm>
            <a:off x="5166360" y="1645920"/>
            <a:ext cx="1691640" cy="1051560"/>
          </a:xfrm>
          <a:prstGeom prst="rect">
            <a:avLst/>
          </a:prstGeom>
          <a:noFill/>
          <a:ln/>
        </p:spPr>
        <p:txBody>
          <a:bodyPr wrap="square" lIns="0" tIns="0" rIns="0" bIns="0" rtlCol="0" anchor="ctr"/>
          <a:lstStyle/>
          <a:p>
            <a:pPr algn="ctr" indent="0" marL="0">
              <a:buNone/>
            </a:pPr>
            <a:r>
              <a:rPr lang="en-US" sz="1400" b="1" dirty="0">
                <a:solidFill>
                  <a:schemeClr val="accent5"/>
                </a:solidFill>
              </a:rPr>
              <a:t>3</a:t>
            </a:r>
            <a:endParaRPr lang="en-US" sz="1400" dirty="0"/>
          </a:p>
          <a:p>
            <a:pPr algn="ctr" indent="0" marL="0">
              <a:buNone/>
            </a:pPr>
            <a:r>
              <a:rPr lang="en-US" sz="1400" dirty="0">
                <a:solidFill>
                  <a:schemeClr val="tx2"/>
                </a:solidFill>
              </a:rPr>
              <a:t>Type the branch email in CC</a:t>
            </a:r>
            <a:endParaRPr lang="en-US" sz="1400" dirty="0"/>
          </a:p>
        </p:txBody>
      </p:sp>
      <p:sp>
        <p:nvSpPr>
          <p:cNvPr id="15" name="as-is arrow 2"/>
          <p:cNvSpPr/>
          <p:nvPr/>
        </p:nvSpPr>
        <p:spPr>
          <a:xfrm>
            <a:off x="7040880" y="2029968"/>
            <a:ext cx="182880" cy="274320"/>
          </a:xfrm>
          <a:prstGeom prst="rightArrow">
            <a:avLst/>
          </a:prstGeom>
          <a:solidFill>
            <a:schemeClr val="accent5"/>
          </a:solidFill>
          <a:ln w="12700">
            <a:solidFill>
              <a:schemeClr val="accent5"/>
            </a:solidFill>
            <a:prstDash val="solid"/>
          </a:ln>
        </p:spPr>
      </p:sp>
      <p:sp>
        <p:nvSpPr>
          <p:cNvPr id="16" name="risk 3"/>
          <p:cNvSpPr/>
          <p:nvPr/>
        </p:nvSpPr>
        <p:spPr>
          <a:xfrm>
            <a:off x="5029200" y="2971800"/>
            <a:ext cx="1965960" cy="1051560"/>
          </a:xfrm>
          <a:prstGeom prst="roundRect">
            <a:avLst>
              <a:gd name="adj" fmla="val 6957"/>
            </a:avLst>
          </a:prstGeom>
          <a:solidFill>
            <a:srgbClr val="FBF1E0"/>
          </a:solidFill>
          <a:ln w="12700">
            <a:solidFill>
              <a:srgbClr val="FBF1E0"/>
            </a:solidFill>
            <a:prstDash val="solid"/>
          </a:ln>
        </p:spPr>
      </p:sp>
      <p:sp>
        <p:nvSpPr>
          <p:cNvPr id="17" name="risk text 3"/>
          <p:cNvSpPr txBox="1"/>
          <p:nvPr/>
        </p:nvSpPr>
        <p:spPr>
          <a:xfrm>
            <a:off x="5166360" y="3017520"/>
            <a:ext cx="1691640" cy="960120"/>
          </a:xfrm>
          <a:prstGeom prst="rect">
            <a:avLst/>
          </a:prstGeom>
          <a:noFill/>
          <a:ln/>
        </p:spPr>
        <p:txBody>
          <a:bodyPr wrap="square" lIns="0" tIns="0" rIns="0" bIns="0" rtlCol="0" anchor="ctr"/>
          <a:lstStyle/>
          <a:p>
            <a:pPr algn="ctr" indent="0" marL="0">
              <a:buNone/>
            </a:pPr>
            <a:r>
              <a:rPr lang="en-US" sz="1100" b="1" dirty="0">
                <a:solidFill>
                  <a:srgbClr val="8A5404"/>
                </a:solidFill>
              </a:rPr>
              <a:t>Risk</a:t>
            </a:r>
            <a:endParaRPr lang="en-US" sz="1400" dirty="0"/>
          </a:p>
          <a:p>
            <a:pPr algn="ctr" indent="0" marL="0">
              <a:buNone/>
            </a:pPr>
            <a:r>
              <a:rPr lang="en-US" sz="1400" dirty="0">
                <a:solidFill>
                  <a:srgbClr val="8A5404"/>
                </a:solidFill>
              </a:rPr>
              <a:t>Another branch sees the data</a:t>
            </a:r>
            <a:endParaRPr lang="en-US" sz="1400" dirty="0"/>
          </a:p>
        </p:txBody>
      </p:sp>
      <p:sp>
        <p:nvSpPr>
          <p:cNvPr id="18" name="as-is step 4"/>
          <p:cNvSpPr/>
          <p:nvPr/>
        </p:nvSpPr>
        <p:spPr>
          <a:xfrm>
            <a:off x="7269480" y="1600200"/>
            <a:ext cx="1965960" cy="1143000"/>
          </a:xfrm>
          <a:prstGeom prst="roundRect">
            <a:avLst>
              <a:gd name="adj" fmla="val 6400"/>
            </a:avLst>
          </a:prstGeom>
          <a:solidFill>
            <a:schemeClr val="bg1"/>
          </a:solidFill>
          <a:ln w="15875">
            <a:solidFill>
              <a:schemeClr val="tx2"/>
            </a:solidFill>
            <a:prstDash val="solid"/>
          </a:ln>
        </p:spPr>
      </p:sp>
      <p:sp>
        <p:nvSpPr>
          <p:cNvPr id="19" name="as-is step text 4"/>
          <p:cNvSpPr txBox="1"/>
          <p:nvPr/>
        </p:nvSpPr>
        <p:spPr>
          <a:xfrm>
            <a:off x="7406640" y="1645920"/>
            <a:ext cx="1691640" cy="1051560"/>
          </a:xfrm>
          <a:prstGeom prst="rect">
            <a:avLst/>
          </a:prstGeom>
          <a:noFill/>
          <a:ln/>
        </p:spPr>
        <p:txBody>
          <a:bodyPr wrap="square" lIns="0" tIns="0" rIns="0" bIns="0" rtlCol="0" anchor="ctr"/>
          <a:lstStyle/>
          <a:p>
            <a:pPr algn="ctr" indent="0" marL="0">
              <a:buNone/>
            </a:pPr>
            <a:r>
              <a:rPr lang="en-US" sz="1400" b="1" dirty="0">
                <a:solidFill>
                  <a:schemeClr val="accent5"/>
                </a:solidFill>
              </a:rPr>
              <a:t>4</a:t>
            </a:r>
            <a:endParaRPr lang="en-US" sz="1400" dirty="0"/>
          </a:p>
          <a:p>
            <a:pPr algn="ctr" indent="0" marL="0">
              <a:buNone/>
            </a:pPr>
            <a:r>
              <a:rPr lang="en-US" sz="1400" dirty="0">
                <a:solidFill>
                  <a:schemeClr val="tx2"/>
                </a:solidFill>
              </a:rPr>
              <a:t>Attach the PDF</a:t>
            </a:r>
            <a:endParaRPr lang="en-US" sz="1400" dirty="0"/>
          </a:p>
        </p:txBody>
      </p:sp>
      <p:sp>
        <p:nvSpPr>
          <p:cNvPr id="20" name="as-is arrow 3"/>
          <p:cNvSpPr/>
          <p:nvPr/>
        </p:nvSpPr>
        <p:spPr>
          <a:xfrm>
            <a:off x="9281160" y="2029968"/>
            <a:ext cx="182880" cy="274320"/>
          </a:xfrm>
          <a:prstGeom prst="rightArrow">
            <a:avLst/>
          </a:prstGeom>
          <a:solidFill>
            <a:schemeClr val="accent5"/>
          </a:solidFill>
          <a:ln w="12700">
            <a:solidFill>
              <a:schemeClr val="accent5"/>
            </a:solidFill>
            <a:prstDash val="solid"/>
          </a:ln>
        </p:spPr>
      </p:sp>
      <p:sp>
        <p:nvSpPr>
          <p:cNvPr id="21" name="risk 4"/>
          <p:cNvSpPr/>
          <p:nvPr/>
        </p:nvSpPr>
        <p:spPr>
          <a:xfrm>
            <a:off x="7269480" y="2971800"/>
            <a:ext cx="1965960" cy="1051560"/>
          </a:xfrm>
          <a:prstGeom prst="roundRect">
            <a:avLst>
              <a:gd name="adj" fmla="val 6957"/>
            </a:avLst>
          </a:prstGeom>
          <a:solidFill>
            <a:srgbClr val="FBF1E0"/>
          </a:solidFill>
          <a:ln w="12700">
            <a:solidFill>
              <a:srgbClr val="FBF1E0"/>
            </a:solidFill>
            <a:prstDash val="solid"/>
          </a:ln>
        </p:spPr>
      </p:sp>
      <p:sp>
        <p:nvSpPr>
          <p:cNvPr id="22" name="risk text 4"/>
          <p:cNvSpPr txBox="1"/>
          <p:nvPr/>
        </p:nvSpPr>
        <p:spPr>
          <a:xfrm>
            <a:off x="7406640" y="3017520"/>
            <a:ext cx="1691640" cy="960120"/>
          </a:xfrm>
          <a:prstGeom prst="rect">
            <a:avLst/>
          </a:prstGeom>
          <a:noFill/>
          <a:ln/>
        </p:spPr>
        <p:txBody>
          <a:bodyPr wrap="square" lIns="0" tIns="0" rIns="0" bIns="0" rtlCol="0" anchor="ctr"/>
          <a:lstStyle/>
          <a:p>
            <a:pPr algn="ctr" indent="0" marL="0">
              <a:buNone/>
            </a:pPr>
            <a:r>
              <a:rPr lang="en-US" sz="1100" b="1" dirty="0">
                <a:solidFill>
                  <a:srgbClr val="8A5404"/>
                </a:solidFill>
              </a:rPr>
              <a:t>Risk</a:t>
            </a:r>
            <a:endParaRPr lang="en-US" sz="1400" dirty="0"/>
          </a:p>
          <a:p>
            <a:pPr algn="ctr" indent="0" marL="0">
              <a:buNone/>
            </a:pPr>
            <a:r>
              <a:rPr lang="en-US" sz="1400" dirty="0">
                <a:solidFill>
                  <a:srgbClr val="8A5404"/>
                </a:solidFill>
              </a:rPr>
              <a:t>NIK travels unprotected</a:t>
            </a:r>
            <a:endParaRPr lang="en-US" sz="1400" dirty="0"/>
          </a:p>
        </p:txBody>
      </p:sp>
      <p:sp>
        <p:nvSpPr>
          <p:cNvPr id="23" name="as-is step 5"/>
          <p:cNvSpPr/>
          <p:nvPr/>
        </p:nvSpPr>
        <p:spPr>
          <a:xfrm>
            <a:off x="9509760" y="1600200"/>
            <a:ext cx="1965960" cy="1143000"/>
          </a:xfrm>
          <a:prstGeom prst="roundRect">
            <a:avLst>
              <a:gd name="adj" fmla="val 6400"/>
            </a:avLst>
          </a:prstGeom>
          <a:solidFill>
            <a:schemeClr val="bg1"/>
          </a:solidFill>
          <a:ln w="15875">
            <a:solidFill>
              <a:schemeClr val="tx2"/>
            </a:solidFill>
            <a:prstDash val="solid"/>
          </a:ln>
        </p:spPr>
      </p:sp>
      <p:sp>
        <p:nvSpPr>
          <p:cNvPr id="24" name="as-is step text 5"/>
          <p:cNvSpPr txBox="1"/>
          <p:nvPr/>
        </p:nvSpPr>
        <p:spPr>
          <a:xfrm>
            <a:off x="9646920" y="1645920"/>
            <a:ext cx="1691640" cy="1051560"/>
          </a:xfrm>
          <a:prstGeom prst="rect">
            <a:avLst/>
          </a:prstGeom>
          <a:noFill/>
          <a:ln/>
        </p:spPr>
        <p:txBody>
          <a:bodyPr wrap="square" lIns="0" tIns="0" rIns="0" bIns="0" rtlCol="0" anchor="ctr"/>
          <a:lstStyle/>
          <a:p>
            <a:pPr algn="ctr" indent="0" marL="0">
              <a:buNone/>
            </a:pPr>
            <a:r>
              <a:rPr lang="en-US" sz="1400" b="1" dirty="0">
                <a:solidFill>
                  <a:schemeClr val="accent5"/>
                </a:solidFill>
              </a:rPr>
              <a:t>5</a:t>
            </a:r>
            <a:endParaRPr lang="en-US" sz="1400" dirty="0"/>
          </a:p>
          <a:p>
            <a:pPr algn="ctr" indent="0" marL="0">
              <a:buNone/>
            </a:pPr>
            <a:r>
              <a:rPr lang="en-US" sz="1400" dirty="0">
                <a:solidFill>
                  <a:schemeClr val="tx2"/>
                </a:solidFill>
              </a:rPr>
              <a:t>Send one by one</a:t>
            </a:r>
            <a:endParaRPr lang="en-US" sz="1400" dirty="0"/>
          </a:p>
        </p:txBody>
      </p:sp>
      <p:sp>
        <p:nvSpPr>
          <p:cNvPr id="25" name="risk 5"/>
          <p:cNvSpPr/>
          <p:nvPr/>
        </p:nvSpPr>
        <p:spPr>
          <a:xfrm>
            <a:off x="9509760" y="2971800"/>
            <a:ext cx="1965960" cy="1051560"/>
          </a:xfrm>
          <a:prstGeom prst="roundRect">
            <a:avLst>
              <a:gd name="adj" fmla="val 6957"/>
            </a:avLst>
          </a:prstGeom>
          <a:solidFill>
            <a:srgbClr val="FBF1E0"/>
          </a:solidFill>
          <a:ln w="12700">
            <a:solidFill>
              <a:srgbClr val="FBF1E0"/>
            </a:solidFill>
            <a:prstDash val="solid"/>
          </a:ln>
        </p:spPr>
      </p:sp>
      <p:sp>
        <p:nvSpPr>
          <p:cNvPr id="26" name="risk text 5"/>
          <p:cNvSpPr txBox="1"/>
          <p:nvPr/>
        </p:nvSpPr>
        <p:spPr>
          <a:xfrm>
            <a:off x="9646920" y="3017520"/>
            <a:ext cx="1691640" cy="960120"/>
          </a:xfrm>
          <a:prstGeom prst="rect">
            <a:avLst/>
          </a:prstGeom>
          <a:noFill/>
          <a:ln/>
        </p:spPr>
        <p:txBody>
          <a:bodyPr wrap="square" lIns="0" tIns="0" rIns="0" bIns="0" rtlCol="0" anchor="ctr"/>
          <a:lstStyle/>
          <a:p>
            <a:pPr algn="ctr" indent="0" marL="0">
              <a:buNone/>
            </a:pPr>
            <a:r>
              <a:rPr lang="en-US" sz="1100" b="1" dirty="0">
                <a:solidFill>
                  <a:srgbClr val="8A5404"/>
                </a:solidFill>
              </a:rPr>
              <a:t>Risk</a:t>
            </a:r>
            <a:endParaRPr lang="en-US" sz="1400" dirty="0"/>
          </a:p>
          <a:p>
            <a:pPr algn="ctr" indent="0" marL="0">
              <a:buNone/>
            </a:pPr>
            <a:r>
              <a:rPr lang="en-US" sz="1400" dirty="0">
                <a:solidFill>
                  <a:srgbClr val="8A5404"/>
                </a:solidFill>
              </a:rPr>
              <a:t>No record of who sent what</a:t>
            </a:r>
            <a:endParaRPr lang="en-US" sz="1400" dirty="0"/>
          </a:p>
        </p:txBody>
      </p:sp>
      <p:sp>
        <p:nvSpPr>
          <p:cNvPr id="27" name="effort callout"/>
          <p:cNvSpPr/>
          <p:nvPr/>
        </p:nvSpPr>
        <p:spPr>
          <a:xfrm>
            <a:off x="548640" y="4343400"/>
            <a:ext cx="11064240" cy="1325880"/>
          </a:xfrm>
          <a:prstGeom prst="roundRect">
            <a:avLst>
              <a:gd name="adj" fmla="val 5517"/>
            </a:avLst>
          </a:prstGeom>
          <a:solidFill>
            <a:schemeClr val="bg2"/>
          </a:solidFill>
          <a:ln w="12700">
            <a:solidFill>
              <a:schemeClr val="bg2"/>
            </a:solidFill>
            <a:prstDash val="solid"/>
          </a:ln>
        </p:spPr>
      </p:sp>
      <p:sp>
        <p:nvSpPr>
          <p:cNvPr id="28" name="effort number"/>
          <p:cNvSpPr txBox="1"/>
          <p:nvPr/>
        </p:nvSpPr>
        <p:spPr>
          <a:xfrm>
            <a:off x="822960" y="4434840"/>
            <a:ext cx="2377440" cy="11430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10 hours</a:t>
            </a:r>
            <a:endParaRPr lang="en-US" sz="4000" dirty="0"/>
          </a:p>
        </p:txBody>
      </p:sp>
      <p:sp>
        <p:nvSpPr>
          <p:cNvPr id="29" name="effort text"/>
          <p:cNvSpPr txBox="1"/>
          <p:nvPr/>
        </p:nvSpPr>
        <p:spPr>
          <a:xfrm>
            <a:off x="3291840" y="4434840"/>
            <a:ext cx="8046720" cy="1143000"/>
          </a:xfrm>
          <a:prstGeom prst="rect">
            <a:avLst/>
          </a:prstGeom>
          <a:noFill/>
          <a:ln/>
        </p:spPr>
        <p:txBody>
          <a:bodyPr wrap="square" lIns="0" tIns="0" rIns="0" bIns="0" rtlCol="0" anchor="ctr"/>
          <a:lstStyle/>
          <a:p>
            <a:pPr indent="0" marL="0">
              <a:buNone/>
            </a:pPr>
            <a:r>
              <a:rPr lang="en-US" sz="1600" dirty="0">
                <a:solidFill>
                  <a:schemeClr val="tx1"/>
                </a:solidFill>
              </a:rPr>
              <a:t>of manual work for one 150-letter batch, with no second pair of eyes before sending and no evidence afterwards.</a:t>
            </a:r>
            <a:endParaRPr lang="en-US" sz="1600" dirty="0"/>
          </a:p>
        </p:txBody>
      </p:sp>
      <p:sp>
        <p:nvSpPr>
          <p:cNvPr id="30" name="footnot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accent5"/>
                </a:solidFill>
              </a:rPr>
              <a:t>Effort assumes 4 minutes per letter for matching, addressing, attaching and sending.</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Leaks come from a few predictable failure modes, so each one can be blocked by a specific control</a:t>
            </a:r>
            <a:endParaRPr lang="en-US" sz="2400" dirty="0"/>
          </a:p>
        </p:txBody>
      </p:sp>
      <p:sp>
        <p:nvSpPr>
          <p:cNvPr id="3" name="Right document card"/>
          <p:cNvSpPr/>
          <p:nvPr/>
        </p:nvSpPr>
        <p:spPr>
          <a:xfrm>
            <a:off x="548640" y="1417320"/>
            <a:ext cx="5440680" cy="2148840"/>
          </a:xfrm>
          <a:prstGeom prst="roundRect">
            <a:avLst>
              <a:gd name="adj" fmla="val 3404"/>
            </a:avLst>
          </a:prstGeom>
          <a:solidFill>
            <a:schemeClr val="bg2"/>
          </a:solidFill>
          <a:ln w="12700">
            <a:solidFill>
              <a:schemeClr val="bg2"/>
            </a:solidFill>
            <a:prstDash val="solid"/>
          </a:ln>
        </p:spPr>
      </p:sp>
      <p:sp>
        <p:nvSpPr>
          <p:cNvPr id="4" name="Right document circle"/>
          <p:cNvSpPr/>
          <p:nvPr/>
        </p:nvSpPr>
        <p:spPr>
          <a:xfrm>
            <a:off x="777240" y="1618488"/>
            <a:ext cx="502920" cy="502920"/>
          </a:xfrm>
          <a:prstGeom prst="ellipse">
            <a:avLst/>
          </a:prstGeom>
          <a:solidFill>
            <a:schemeClr val="accent4"/>
          </a:solidFill>
          <a:ln w="12700">
            <a:solidFill>
              <a:schemeClr val="accent4"/>
            </a:solidFill>
            <a:prstDash val="solid"/>
          </a:ln>
        </p:spPr>
      </p:sp>
      <p:pic>
        <p:nvPicPr>
          <p:cNvPr id="5" name="Right document icon" descr="preencoded.png">    </p:cNvPr>
          <p:cNvPicPr>
            <a:picLocks noChangeAspect="1"/>
          </p:cNvPicPr>
          <p:nvPr/>
        </p:nvPicPr>
        <p:blipFill>
          <a:blip r:embed="rId1"/>
          <a:stretch>
            <a:fillRect/>
          </a:stretch>
        </p:blipFill>
        <p:spPr>
          <a:xfrm>
            <a:off x="897941" y="1739189"/>
            <a:ext cx="261518" cy="261518"/>
          </a:xfrm>
          <a:prstGeom prst="rect">
            <a:avLst/>
          </a:prstGeom>
        </p:spPr>
      </p:pic>
      <p:sp>
        <p:nvSpPr>
          <p:cNvPr id="6" name="Right document heading"/>
          <p:cNvSpPr txBox="1"/>
          <p:nvPr/>
        </p:nvSpPr>
        <p:spPr>
          <a:xfrm>
            <a:off x="1417320" y="1618488"/>
            <a:ext cx="4343400" cy="502920"/>
          </a:xfrm>
          <a:prstGeom prst="rect">
            <a:avLst/>
          </a:prstGeom>
          <a:noFill/>
          <a:ln/>
        </p:spPr>
        <p:txBody>
          <a:bodyPr wrap="square" lIns="0" tIns="0" rIns="0" bIns="0" rtlCol="0" anchor="ctr"/>
          <a:lstStyle/>
          <a:p>
            <a:pPr indent="0" marL="0">
              <a:buNone/>
            </a:pPr>
            <a:r>
              <a:rPr lang="en-US" sz="1700" b="1" dirty="0">
                <a:solidFill>
                  <a:schemeClr val="tx2"/>
                </a:solidFill>
              </a:rPr>
              <a:t>Right document</a:t>
            </a:r>
            <a:endParaRPr lang="en-US" sz="1700" dirty="0"/>
          </a:p>
        </p:txBody>
      </p:sp>
      <p:sp>
        <p:nvSpPr>
          <p:cNvPr id="7" name="Right document controls"/>
          <p:cNvSpPr txBox="1"/>
          <p:nvPr/>
        </p:nvSpPr>
        <p:spPr>
          <a:xfrm>
            <a:off x="822960" y="2240280"/>
            <a:ext cx="4983480" cy="12344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DP-01  Every customer has a letter</a:t>
            </a:r>
            <a:endParaRPr lang="en-US" sz="1400" dirty="0"/>
          </a:p>
          <a:p>
            <a:pPr indent="0" marL="0">
              <a:spcAft>
                <a:spcPts val="200"/>
              </a:spcAft>
              <a:buNone/>
            </a:pPr>
            <a:r>
              <a:rPr lang="en-US" sz="1400" dirty="0">
                <a:solidFill>
                  <a:schemeClr val="tx1"/>
                </a:solidFill>
              </a:rPr>
              <a:t>DP-02  No duplicate letters</a:t>
            </a:r>
            <a:endParaRPr lang="en-US" sz="1400" dirty="0"/>
          </a:p>
          <a:p>
            <a:pPr indent="0" marL="0">
              <a:spcAft>
                <a:spcPts val="200"/>
              </a:spcAft>
              <a:buNone/>
            </a:pPr>
            <a:r>
              <a:rPr lang="en-US" sz="1400" dirty="0">
                <a:solidFill>
                  <a:schemeClr val="tx1"/>
                </a:solidFill>
              </a:rPr>
              <a:t>DP-03  File name points to one policy</a:t>
            </a:r>
            <a:endParaRPr lang="en-US" sz="1400" dirty="0"/>
          </a:p>
          <a:p>
            <a:pPr indent="0" marL="0">
              <a:spcAft>
                <a:spcPts val="200"/>
              </a:spcAft>
              <a:buNone/>
            </a:pPr>
            <a:r>
              <a:rPr lang="en-US" sz="1400" dirty="0">
                <a:solidFill>
                  <a:schemeClr val="tx1"/>
                </a:solidFill>
              </a:rPr>
              <a:t>DP-04  Policy, name and NIK match recipient</a:t>
            </a:r>
            <a:endParaRPr lang="en-US" sz="1400" dirty="0"/>
          </a:p>
          <a:p>
            <a:pPr indent="0" marL="0">
              <a:spcAft>
                <a:spcPts val="200"/>
              </a:spcAft>
              <a:buNone/>
            </a:pPr>
            <a:r>
              <a:rPr lang="en-US" sz="1400" dirty="0">
                <a:solidFill>
                  <a:schemeClr val="tx1"/>
                </a:solidFill>
              </a:rPr>
              <a:t>DP-05  No orphan letters</a:t>
            </a:r>
            <a:endParaRPr lang="en-US" sz="1400" dirty="0"/>
          </a:p>
        </p:txBody>
      </p:sp>
      <p:sp>
        <p:nvSpPr>
          <p:cNvPr id="8" name="Right recipient card"/>
          <p:cNvSpPr/>
          <p:nvPr/>
        </p:nvSpPr>
        <p:spPr>
          <a:xfrm>
            <a:off x="6172200" y="1417320"/>
            <a:ext cx="5440680" cy="2148840"/>
          </a:xfrm>
          <a:prstGeom prst="roundRect">
            <a:avLst>
              <a:gd name="adj" fmla="val 3404"/>
            </a:avLst>
          </a:prstGeom>
          <a:solidFill>
            <a:schemeClr val="bg2"/>
          </a:solidFill>
          <a:ln w="12700">
            <a:solidFill>
              <a:schemeClr val="bg2"/>
            </a:solidFill>
            <a:prstDash val="solid"/>
          </a:ln>
        </p:spPr>
      </p:sp>
      <p:sp>
        <p:nvSpPr>
          <p:cNvPr id="9" name="Right recipient circle"/>
          <p:cNvSpPr/>
          <p:nvPr/>
        </p:nvSpPr>
        <p:spPr>
          <a:xfrm>
            <a:off x="6400800" y="1618488"/>
            <a:ext cx="502920" cy="502920"/>
          </a:xfrm>
          <a:prstGeom prst="ellipse">
            <a:avLst/>
          </a:prstGeom>
          <a:solidFill>
            <a:schemeClr val="accent4"/>
          </a:solidFill>
          <a:ln w="12700">
            <a:solidFill>
              <a:schemeClr val="accent4"/>
            </a:solidFill>
            <a:prstDash val="solid"/>
          </a:ln>
        </p:spPr>
      </p:sp>
      <p:pic>
        <p:nvPicPr>
          <p:cNvPr id="10" name="Right recipient icon" descr="preencoded.png">    </p:cNvPr>
          <p:cNvPicPr>
            <a:picLocks noChangeAspect="1"/>
          </p:cNvPicPr>
          <p:nvPr/>
        </p:nvPicPr>
        <p:blipFill>
          <a:blip r:embed="rId2"/>
          <a:stretch>
            <a:fillRect/>
          </a:stretch>
        </p:blipFill>
        <p:spPr>
          <a:xfrm>
            <a:off x="6521501" y="1739189"/>
            <a:ext cx="261518" cy="261518"/>
          </a:xfrm>
          <a:prstGeom prst="rect">
            <a:avLst/>
          </a:prstGeom>
        </p:spPr>
      </p:pic>
      <p:sp>
        <p:nvSpPr>
          <p:cNvPr id="11" name="Right recipient heading"/>
          <p:cNvSpPr txBox="1"/>
          <p:nvPr/>
        </p:nvSpPr>
        <p:spPr>
          <a:xfrm>
            <a:off x="7040880" y="1618488"/>
            <a:ext cx="4343400" cy="502920"/>
          </a:xfrm>
          <a:prstGeom prst="rect">
            <a:avLst/>
          </a:prstGeom>
          <a:noFill/>
          <a:ln/>
        </p:spPr>
        <p:txBody>
          <a:bodyPr wrap="square" lIns="0" tIns="0" rIns="0" bIns="0" rtlCol="0" anchor="ctr"/>
          <a:lstStyle/>
          <a:p>
            <a:pPr indent="0" marL="0">
              <a:buNone/>
            </a:pPr>
            <a:r>
              <a:rPr lang="en-US" sz="1700" b="1" dirty="0">
                <a:solidFill>
                  <a:schemeClr val="tx2"/>
                </a:solidFill>
              </a:rPr>
              <a:t>Right recipient</a:t>
            </a:r>
            <a:endParaRPr lang="en-US" sz="1700" dirty="0"/>
          </a:p>
        </p:txBody>
      </p:sp>
      <p:sp>
        <p:nvSpPr>
          <p:cNvPr id="12" name="Right recipient controls"/>
          <p:cNvSpPr txBox="1"/>
          <p:nvPr/>
        </p:nvSpPr>
        <p:spPr>
          <a:xfrm>
            <a:off x="6446520" y="2240280"/>
            <a:ext cx="4983480" cy="12344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DP-06  Email equals master data, no typo</a:t>
            </a:r>
            <a:endParaRPr lang="en-US" sz="1400" dirty="0"/>
          </a:p>
          <a:p>
            <a:pPr indent="0" marL="0">
              <a:spcAft>
                <a:spcPts val="200"/>
              </a:spcAft>
              <a:buNone/>
            </a:pPr>
            <a:r>
              <a:rPr lang="en-US" sz="1400" dirty="0">
                <a:solidFill>
                  <a:schemeClr val="tx1"/>
                </a:solidFill>
              </a:rPr>
              <a:t>DP-07  Branch CC taken from branch master</a:t>
            </a:r>
            <a:endParaRPr lang="en-US" sz="1400" dirty="0"/>
          </a:p>
          <a:p>
            <a:pPr indent="0" marL="0">
              <a:spcAft>
                <a:spcPts val="200"/>
              </a:spcAft>
              <a:buNone/>
            </a:pPr>
            <a:r>
              <a:rPr lang="en-US" sz="1400" dirty="0">
                <a:solidFill>
                  <a:schemeClr val="tx1"/>
                </a:solidFill>
              </a:rPr>
              <a:t>DP-08  One customer per email, no BCC</a:t>
            </a:r>
            <a:endParaRPr lang="en-US" sz="1400" dirty="0"/>
          </a:p>
        </p:txBody>
      </p:sp>
      <p:sp>
        <p:nvSpPr>
          <p:cNvPr id="13" name="Data protected card"/>
          <p:cNvSpPr/>
          <p:nvPr/>
        </p:nvSpPr>
        <p:spPr>
          <a:xfrm>
            <a:off x="548640" y="3749040"/>
            <a:ext cx="5440680" cy="2148840"/>
          </a:xfrm>
          <a:prstGeom prst="roundRect">
            <a:avLst>
              <a:gd name="adj" fmla="val 3404"/>
            </a:avLst>
          </a:prstGeom>
          <a:solidFill>
            <a:schemeClr val="bg2"/>
          </a:solidFill>
          <a:ln w="12700">
            <a:solidFill>
              <a:schemeClr val="bg2"/>
            </a:solidFill>
            <a:prstDash val="solid"/>
          </a:ln>
        </p:spPr>
      </p:sp>
      <p:sp>
        <p:nvSpPr>
          <p:cNvPr id="14" name="Data protected circle"/>
          <p:cNvSpPr/>
          <p:nvPr/>
        </p:nvSpPr>
        <p:spPr>
          <a:xfrm>
            <a:off x="777240" y="3950208"/>
            <a:ext cx="502920" cy="502920"/>
          </a:xfrm>
          <a:prstGeom prst="ellipse">
            <a:avLst/>
          </a:prstGeom>
          <a:solidFill>
            <a:schemeClr val="accent4"/>
          </a:solidFill>
          <a:ln w="12700">
            <a:solidFill>
              <a:schemeClr val="accent4"/>
            </a:solidFill>
            <a:prstDash val="solid"/>
          </a:ln>
        </p:spPr>
      </p:sp>
      <p:pic>
        <p:nvPicPr>
          <p:cNvPr id="15" name="Data protected icon" descr="preencoded.png">    </p:cNvPr>
          <p:cNvPicPr>
            <a:picLocks noChangeAspect="1"/>
          </p:cNvPicPr>
          <p:nvPr/>
        </p:nvPicPr>
        <p:blipFill>
          <a:blip r:embed="rId3"/>
          <a:stretch>
            <a:fillRect/>
          </a:stretch>
        </p:blipFill>
        <p:spPr>
          <a:xfrm>
            <a:off x="897941" y="4070909"/>
            <a:ext cx="261518" cy="261518"/>
          </a:xfrm>
          <a:prstGeom prst="rect">
            <a:avLst/>
          </a:prstGeom>
        </p:spPr>
      </p:pic>
      <p:sp>
        <p:nvSpPr>
          <p:cNvPr id="16" name="Data protected heading"/>
          <p:cNvSpPr txBox="1"/>
          <p:nvPr/>
        </p:nvSpPr>
        <p:spPr>
          <a:xfrm>
            <a:off x="1417320" y="3950208"/>
            <a:ext cx="4343400" cy="502920"/>
          </a:xfrm>
          <a:prstGeom prst="rect">
            <a:avLst/>
          </a:prstGeom>
          <a:noFill/>
          <a:ln/>
        </p:spPr>
        <p:txBody>
          <a:bodyPr wrap="square" lIns="0" tIns="0" rIns="0" bIns="0" rtlCol="0" anchor="ctr"/>
          <a:lstStyle/>
          <a:p>
            <a:pPr indent="0" marL="0">
              <a:buNone/>
            </a:pPr>
            <a:r>
              <a:rPr lang="en-US" sz="1700" b="1" dirty="0">
                <a:solidFill>
                  <a:schemeClr val="tx2"/>
                </a:solidFill>
              </a:rPr>
              <a:t>Data protected</a:t>
            </a:r>
            <a:endParaRPr lang="en-US" sz="1700" dirty="0"/>
          </a:p>
        </p:txBody>
      </p:sp>
      <p:sp>
        <p:nvSpPr>
          <p:cNvPr id="17" name="Data protected controls"/>
          <p:cNvSpPr txBox="1"/>
          <p:nvPr/>
        </p:nvSpPr>
        <p:spPr>
          <a:xfrm>
            <a:off x="822960" y="4572000"/>
            <a:ext cx="4983480" cy="12344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DP-09  Letter locked with the customer's password</a:t>
            </a:r>
            <a:endParaRPr lang="en-US" sz="1400" dirty="0"/>
          </a:p>
          <a:p>
            <a:pPr indent="0" marL="0">
              <a:spcAft>
                <a:spcPts val="200"/>
              </a:spcAft>
              <a:buNone/>
            </a:pPr>
            <a:r>
              <a:rPr lang="en-US" sz="1400" dirty="0">
                <a:solidFill>
                  <a:schemeClr val="tx1"/>
                </a:solidFill>
              </a:rPr>
              <a:t>DP-10  No NIK in file name, subject or body</a:t>
            </a:r>
            <a:endParaRPr lang="en-US" sz="1400" dirty="0"/>
          </a:p>
          <a:p>
            <a:pPr indent="0" marL="0">
              <a:spcAft>
                <a:spcPts val="200"/>
              </a:spcAft>
              <a:buNone/>
            </a:pPr>
            <a:r>
              <a:rPr lang="en-US" sz="1400" dirty="0">
                <a:solidFill>
                  <a:schemeClr val="tx1"/>
                </a:solidFill>
              </a:rPr>
              <a:t>DP-11  Logs and reports hold masked data only</a:t>
            </a:r>
            <a:endParaRPr lang="en-US" sz="1400" dirty="0"/>
          </a:p>
        </p:txBody>
      </p:sp>
      <p:sp>
        <p:nvSpPr>
          <p:cNvPr id="18" name="Safe delivery card"/>
          <p:cNvSpPr/>
          <p:nvPr/>
        </p:nvSpPr>
        <p:spPr>
          <a:xfrm>
            <a:off x="6172200" y="3749040"/>
            <a:ext cx="5440680" cy="2148840"/>
          </a:xfrm>
          <a:prstGeom prst="roundRect">
            <a:avLst>
              <a:gd name="adj" fmla="val 3404"/>
            </a:avLst>
          </a:prstGeom>
          <a:solidFill>
            <a:schemeClr val="bg2"/>
          </a:solidFill>
          <a:ln w="12700">
            <a:solidFill>
              <a:schemeClr val="bg2"/>
            </a:solidFill>
            <a:prstDash val="solid"/>
          </a:ln>
        </p:spPr>
      </p:sp>
      <p:sp>
        <p:nvSpPr>
          <p:cNvPr id="19" name="Safe delivery circle"/>
          <p:cNvSpPr/>
          <p:nvPr/>
        </p:nvSpPr>
        <p:spPr>
          <a:xfrm>
            <a:off x="6400800" y="3950208"/>
            <a:ext cx="502920" cy="502920"/>
          </a:xfrm>
          <a:prstGeom prst="ellipse">
            <a:avLst/>
          </a:prstGeom>
          <a:solidFill>
            <a:schemeClr val="accent4"/>
          </a:solidFill>
          <a:ln w="12700">
            <a:solidFill>
              <a:schemeClr val="accent4"/>
            </a:solidFill>
            <a:prstDash val="solid"/>
          </a:ln>
        </p:spPr>
      </p:sp>
      <p:pic>
        <p:nvPicPr>
          <p:cNvPr id="20" name="Safe delivery icon" descr="preencoded.png">    </p:cNvPr>
          <p:cNvPicPr>
            <a:picLocks noChangeAspect="1"/>
          </p:cNvPicPr>
          <p:nvPr/>
        </p:nvPicPr>
        <p:blipFill>
          <a:blip r:embed="rId4"/>
          <a:stretch>
            <a:fillRect/>
          </a:stretch>
        </p:blipFill>
        <p:spPr>
          <a:xfrm>
            <a:off x="6521501" y="4070909"/>
            <a:ext cx="261518" cy="261518"/>
          </a:xfrm>
          <a:prstGeom prst="rect">
            <a:avLst/>
          </a:prstGeom>
        </p:spPr>
      </p:pic>
      <p:sp>
        <p:nvSpPr>
          <p:cNvPr id="21" name="Safe delivery heading"/>
          <p:cNvSpPr txBox="1"/>
          <p:nvPr/>
        </p:nvSpPr>
        <p:spPr>
          <a:xfrm>
            <a:off x="7040880" y="3950208"/>
            <a:ext cx="4343400" cy="502920"/>
          </a:xfrm>
          <a:prstGeom prst="rect">
            <a:avLst/>
          </a:prstGeom>
          <a:noFill/>
          <a:ln/>
        </p:spPr>
        <p:txBody>
          <a:bodyPr wrap="square" lIns="0" tIns="0" rIns="0" bIns="0" rtlCol="0" anchor="ctr"/>
          <a:lstStyle/>
          <a:p>
            <a:pPr indent="0" marL="0">
              <a:buNone/>
            </a:pPr>
            <a:r>
              <a:rPr lang="en-US" sz="1700" b="1" dirty="0">
                <a:solidFill>
                  <a:schemeClr val="tx2"/>
                </a:solidFill>
              </a:rPr>
              <a:t>Safe delivery</a:t>
            </a:r>
            <a:endParaRPr lang="en-US" sz="1700" dirty="0"/>
          </a:p>
        </p:txBody>
      </p:sp>
      <p:sp>
        <p:nvSpPr>
          <p:cNvPr id="22" name="Safe delivery controls"/>
          <p:cNvSpPr txBox="1"/>
          <p:nvPr/>
        </p:nvSpPr>
        <p:spPr>
          <a:xfrm>
            <a:off x="6446520" y="4572000"/>
            <a:ext cx="4983480" cy="1234440"/>
          </a:xfrm>
          <a:prstGeom prst="rect">
            <a:avLst/>
          </a:prstGeom>
          <a:noFill/>
          <a:ln/>
        </p:spPr>
        <p:txBody>
          <a:bodyPr wrap="square" lIns="0" tIns="0" rIns="0" bIns="0" rtlCol="0" anchor="t"/>
          <a:lstStyle/>
          <a:p>
            <a:pPr indent="0" marL="0">
              <a:spcAft>
                <a:spcPts val="200"/>
              </a:spcAft>
              <a:buNone/>
            </a:pPr>
            <a:r>
              <a:rPr lang="en-US" sz="1400" dirty="0">
                <a:solidFill>
                  <a:schemeClr val="tx1"/>
                </a:solidFill>
              </a:rPr>
              <a:t>DP-12  Official mailbox only, no credentials in code</a:t>
            </a:r>
            <a:endParaRPr lang="en-US" sz="1400" dirty="0"/>
          </a:p>
          <a:p>
            <a:pPr indent="0" marL="0">
              <a:spcAft>
                <a:spcPts val="200"/>
              </a:spcAft>
              <a:buNone/>
            </a:pPr>
            <a:r>
              <a:rPr lang="en-US" sz="1400" dirty="0">
                <a:solidFill>
                  <a:schemeClr val="tx1"/>
                </a:solidFill>
              </a:rPr>
              <a:t>DP-13  File identical to the approved version</a:t>
            </a:r>
            <a:endParaRPr lang="en-US" sz="1400" dirty="0"/>
          </a:p>
          <a:p>
            <a:pPr indent="0" marL="0">
              <a:spcAft>
                <a:spcPts val="200"/>
              </a:spcAft>
              <a:buNone/>
            </a:pPr>
            <a:r>
              <a:rPr lang="en-US" sz="1400" dirty="0">
                <a:solidFill>
                  <a:schemeClr val="tx1"/>
                </a:solidFill>
              </a:rPr>
              <a:t>Kill switch halts the batch on anomalies</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The redesigned process validates, locks and requires two people before any email leaves</a:t>
            </a:r>
            <a:endParaRPr lang="en-US" sz="2400" dirty="0"/>
          </a:p>
        </p:txBody>
      </p:sp>
      <p:sp>
        <p:nvSpPr>
          <p:cNvPr id="3" name="flow circle 1"/>
          <p:cNvSpPr/>
          <p:nvPr/>
        </p:nvSpPr>
        <p:spPr>
          <a:xfrm>
            <a:off x="914400" y="1508760"/>
            <a:ext cx="640080" cy="640080"/>
          </a:xfrm>
          <a:prstGeom prst="ellipse">
            <a:avLst/>
          </a:prstGeom>
          <a:solidFill>
            <a:schemeClr val="accent4"/>
          </a:solidFill>
          <a:ln w="12700">
            <a:solidFill>
              <a:schemeClr val="accent4"/>
            </a:solidFill>
            <a:prstDash val="solid"/>
          </a:ln>
        </p:spPr>
      </p:sp>
      <p:sp>
        <p:nvSpPr>
          <p:cNvPr id="4" name="flow number 1"/>
          <p:cNvSpPr txBox="1"/>
          <p:nvPr/>
        </p:nvSpPr>
        <p:spPr>
          <a:xfrm>
            <a:off x="914400" y="1508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flow connector 0"/>
          <p:cNvSpPr/>
          <p:nvPr/>
        </p:nvSpPr>
        <p:spPr>
          <a:xfrm>
            <a:off x="1618488" y="1828800"/>
            <a:ext cx="832104" cy="0"/>
          </a:xfrm>
          <a:prstGeom prst="line">
            <a:avLst/>
          </a:prstGeom>
          <a:noFill/>
          <a:ln w="15875">
            <a:solidFill>
              <a:schemeClr val="accent5"/>
            </a:solidFill>
            <a:prstDash val="solid"/>
            <a:tailEnd type="triangle"/>
          </a:ln>
        </p:spPr>
      </p:sp>
      <p:sp>
        <p:nvSpPr>
          <p:cNvPr id="6" name="flow title 1"/>
          <p:cNvSpPr txBox="1"/>
          <p:nvPr/>
        </p:nvSpPr>
        <p:spPr>
          <a:xfrm>
            <a:off x="548640" y="2286000"/>
            <a:ext cx="1417320" cy="548640"/>
          </a:xfrm>
          <a:prstGeom prst="rect">
            <a:avLst/>
          </a:prstGeom>
          <a:noFill/>
          <a:ln/>
        </p:spPr>
        <p:txBody>
          <a:bodyPr wrap="square" lIns="0" tIns="0" rIns="0" bIns="0" rtlCol="0" anchor="t"/>
          <a:lstStyle/>
          <a:p>
            <a:pPr algn="ctr" indent="0" marL="0">
              <a:buNone/>
            </a:pPr>
            <a:r>
              <a:rPr lang="en-US" sz="1400" b="1" dirty="0">
                <a:solidFill>
                  <a:schemeClr val="tx2"/>
                </a:solidFill>
              </a:rPr>
              <a:t>Validate</a:t>
            </a:r>
            <a:endParaRPr lang="en-US" sz="1400" dirty="0"/>
          </a:p>
        </p:txBody>
      </p:sp>
      <p:sp>
        <p:nvSpPr>
          <p:cNvPr id="7" name="flow desc 1"/>
          <p:cNvSpPr txBox="1"/>
          <p:nvPr/>
        </p:nvSpPr>
        <p:spPr>
          <a:xfrm>
            <a:off x="548640" y="2834640"/>
            <a:ext cx="1417320" cy="1005840"/>
          </a:xfrm>
          <a:prstGeom prst="rect">
            <a:avLst/>
          </a:prstGeom>
          <a:noFill/>
          <a:ln/>
        </p:spPr>
        <p:txBody>
          <a:bodyPr wrap="square" lIns="0" tIns="0" rIns="0" bIns="0" rtlCol="0" anchor="t"/>
          <a:lstStyle/>
          <a:p>
            <a:pPr algn="ctr" indent="0" marL="0">
              <a:buNone/>
            </a:pPr>
            <a:r>
              <a:rPr lang="en-US" sz="1200" dirty="0">
                <a:solidFill>
                  <a:schemeClr val="tx1"/>
                </a:solidFill>
              </a:rPr>
              <a:t>13 controls on every letter and recipient</a:t>
            </a:r>
            <a:endParaRPr lang="en-US" sz="1200" dirty="0"/>
          </a:p>
        </p:txBody>
      </p:sp>
      <p:sp>
        <p:nvSpPr>
          <p:cNvPr id="8" name="flow circle 2"/>
          <p:cNvSpPr/>
          <p:nvPr/>
        </p:nvSpPr>
        <p:spPr>
          <a:xfrm>
            <a:off x="2514600" y="1508760"/>
            <a:ext cx="640080" cy="640080"/>
          </a:xfrm>
          <a:prstGeom prst="ellipse">
            <a:avLst/>
          </a:prstGeom>
          <a:solidFill>
            <a:schemeClr val="accent4"/>
          </a:solidFill>
          <a:ln w="12700">
            <a:solidFill>
              <a:schemeClr val="accent4"/>
            </a:solidFill>
            <a:prstDash val="solid"/>
          </a:ln>
        </p:spPr>
      </p:sp>
      <p:sp>
        <p:nvSpPr>
          <p:cNvPr id="9" name="flow number 2"/>
          <p:cNvSpPr txBox="1"/>
          <p:nvPr/>
        </p:nvSpPr>
        <p:spPr>
          <a:xfrm>
            <a:off x="2514600" y="1508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flow connector 1"/>
          <p:cNvSpPr/>
          <p:nvPr/>
        </p:nvSpPr>
        <p:spPr>
          <a:xfrm>
            <a:off x="3218688" y="1828800"/>
            <a:ext cx="832104" cy="0"/>
          </a:xfrm>
          <a:prstGeom prst="line">
            <a:avLst/>
          </a:prstGeom>
          <a:noFill/>
          <a:ln w="15875">
            <a:solidFill>
              <a:schemeClr val="accent5"/>
            </a:solidFill>
            <a:prstDash val="solid"/>
            <a:tailEnd type="triangle"/>
          </a:ln>
        </p:spPr>
      </p:sp>
      <p:sp>
        <p:nvSpPr>
          <p:cNvPr id="11" name="flow title 2"/>
          <p:cNvSpPr txBox="1"/>
          <p:nvPr/>
        </p:nvSpPr>
        <p:spPr>
          <a:xfrm>
            <a:off x="2148840" y="2286000"/>
            <a:ext cx="1417320" cy="548640"/>
          </a:xfrm>
          <a:prstGeom prst="rect">
            <a:avLst/>
          </a:prstGeom>
          <a:noFill/>
          <a:ln/>
        </p:spPr>
        <p:txBody>
          <a:bodyPr wrap="square" lIns="0" tIns="0" rIns="0" bIns="0" rtlCol="0" anchor="t"/>
          <a:lstStyle/>
          <a:p>
            <a:pPr algn="ctr" indent="0" marL="0">
              <a:buNone/>
            </a:pPr>
            <a:r>
              <a:rPr lang="en-US" sz="1400" b="1" dirty="0">
                <a:solidFill>
                  <a:schemeClr val="tx2"/>
                </a:solidFill>
              </a:rPr>
              <a:t>Quarantine</a:t>
            </a:r>
            <a:endParaRPr lang="en-US" sz="1400" dirty="0"/>
          </a:p>
        </p:txBody>
      </p:sp>
      <p:sp>
        <p:nvSpPr>
          <p:cNvPr id="12" name="flow desc 2"/>
          <p:cNvSpPr txBox="1"/>
          <p:nvPr/>
        </p:nvSpPr>
        <p:spPr>
          <a:xfrm>
            <a:off x="2148840" y="2834640"/>
            <a:ext cx="1417320" cy="1005840"/>
          </a:xfrm>
          <a:prstGeom prst="rect">
            <a:avLst/>
          </a:prstGeom>
          <a:noFill/>
          <a:ln/>
        </p:spPr>
        <p:txBody>
          <a:bodyPr wrap="square" lIns="0" tIns="0" rIns="0" bIns="0" rtlCol="0" anchor="t"/>
          <a:lstStyle/>
          <a:p>
            <a:pPr algn="ctr" indent="0" marL="0">
              <a:buNone/>
            </a:pPr>
            <a:r>
              <a:rPr lang="en-US" sz="1200" dirty="0">
                <a:solidFill>
                  <a:schemeClr val="tx1"/>
                </a:solidFill>
              </a:rPr>
              <a:t>Failures copied aside, never sent</a:t>
            </a:r>
            <a:endParaRPr lang="en-US" sz="1200" dirty="0"/>
          </a:p>
        </p:txBody>
      </p:sp>
      <p:sp>
        <p:nvSpPr>
          <p:cNvPr id="13" name="flow circle 3"/>
          <p:cNvSpPr/>
          <p:nvPr/>
        </p:nvSpPr>
        <p:spPr>
          <a:xfrm>
            <a:off x="4114800" y="1508760"/>
            <a:ext cx="640080" cy="640080"/>
          </a:xfrm>
          <a:prstGeom prst="ellipse">
            <a:avLst/>
          </a:prstGeom>
          <a:solidFill>
            <a:schemeClr val="accent4"/>
          </a:solidFill>
          <a:ln w="12700">
            <a:solidFill>
              <a:schemeClr val="accent4"/>
            </a:solidFill>
            <a:prstDash val="solid"/>
          </a:ln>
        </p:spPr>
      </p:sp>
      <p:sp>
        <p:nvSpPr>
          <p:cNvPr id="14" name="flow number 3"/>
          <p:cNvSpPr txBox="1"/>
          <p:nvPr/>
        </p:nvSpPr>
        <p:spPr>
          <a:xfrm>
            <a:off x="4114800" y="1508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flow connector 2"/>
          <p:cNvSpPr/>
          <p:nvPr/>
        </p:nvSpPr>
        <p:spPr>
          <a:xfrm>
            <a:off x="4818888" y="1828800"/>
            <a:ext cx="832104" cy="0"/>
          </a:xfrm>
          <a:prstGeom prst="line">
            <a:avLst/>
          </a:prstGeom>
          <a:noFill/>
          <a:ln w="15875">
            <a:solidFill>
              <a:schemeClr val="accent5"/>
            </a:solidFill>
            <a:prstDash val="solid"/>
            <a:tailEnd type="triangle"/>
          </a:ln>
        </p:spPr>
      </p:sp>
      <p:sp>
        <p:nvSpPr>
          <p:cNvPr id="16" name="flow title 3"/>
          <p:cNvSpPr txBox="1"/>
          <p:nvPr/>
        </p:nvSpPr>
        <p:spPr>
          <a:xfrm>
            <a:off x="3749040" y="2286000"/>
            <a:ext cx="1417320" cy="548640"/>
          </a:xfrm>
          <a:prstGeom prst="rect">
            <a:avLst/>
          </a:prstGeom>
          <a:noFill/>
          <a:ln/>
        </p:spPr>
        <p:txBody>
          <a:bodyPr wrap="square" lIns="0" tIns="0" rIns="0" bIns="0" rtlCol="0" anchor="t"/>
          <a:lstStyle/>
          <a:p>
            <a:pPr algn="ctr" indent="0" marL="0">
              <a:buNone/>
            </a:pPr>
            <a:r>
              <a:rPr lang="en-US" sz="1400" b="1" dirty="0">
                <a:solidFill>
                  <a:schemeClr val="tx2"/>
                </a:solidFill>
              </a:rPr>
              <a:t>Lock</a:t>
            </a:r>
            <a:endParaRPr lang="en-US" sz="1400" dirty="0"/>
          </a:p>
        </p:txBody>
      </p:sp>
      <p:sp>
        <p:nvSpPr>
          <p:cNvPr id="17" name="flow desc 3"/>
          <p:cNvSpPr txBox="1"/>
          <p:nvPr/>
        </p:nvSpPr>
        <p:spPr>
          <a:xfrm>
            <a:off x="3749040" y="2834640"/>
            <a:ext cx="1417320" cy="1005840"/>
          </a:xfrm>
          <a:prstGeom prst="rect">
            <a:avLst/>
          </a:prstGeom>
          <a:noFill/>
          <a:ln/>
        </p:spPr>
        <p:txBody>
          <a:bodyPr wrap="square" lIns="0" tIns="0" rIns="0" bIns="0" rtlCol="0" anchor="t"/>
          <a:lstStyle/>
          <a:p>
            <a:pPr algn="ctr" indent="0" marL="0">
              <a:buNone/>
            </a:pPr>
            <a:r>
              <a:rPr lang="en-US" sz="1200" dirty="0">
                <a:solidFill>
                  <a:schemeClr val="tx1"/>
                </a:solidFill>
              </a:rPr>
              <a:t>PDF password = customer's date of birth</a:t>
            </a:r>
            <a:endParaRPr lang="en-US" sz="1200" dirty="0"/>
          </a:p>
        </p:txBody>
      </p:sp>
      <p:sp>
        <p:nvSpPr>
          <p:cNvPr id="18" name="flow circle 4"/>
          <p:cNvSpPr/>
          <p:nvPr/>
        </p:nvSpPr>
        <p:spPr>
          <a:xfrm>
            <a:off x="5715000" y="1508760"/>
            <a:ext cx="640080" cy="640080"/>
          </a:xfrm>
          <a:prstGeom prst="ellipse">
            <a:avLst/>
          </a:prstGeom>
          <a:solidFill>
            <a:schemeClr val="accent5"/>
          </a:solidFill>
          <a:ln w="12700">
            <a:solidFill>
              <a:schemeClr val="accent5"/>
            </a:solidFill>
            <a:prstDash val="solid"/>
          </a:ln>
        </p:spPr>
      </p:sp>
      <p:sp>
        <p:nvSpPr>
          <p:cNvPr id="19" name="flow number 4"/>
          <p:cNvSpPr txBox="1"/>
          <p:nvPr/>
        </p:nvSpPr>
        <p:spPr>
          <a:xfrm>
            <a:off x="5715000" y="1508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flow connector 3"/>
          <p:cNvSpPr/>
          <p:nvPr/>
        </p:nvSpPr>
        <p:spPr>
          <a:xfrm>
            <a:off x="6419088" y="1828800"/>
            <a:ext cx="832104" cy="0"/>
          </a:xfrm>
          <a:prstGeom prst="line">
            <a:avLst/>
          </a:prstGeom>
          <a:noFill/>
          <a:ln w="15875">
            <a:solidFill>
              <a:schemeClr val="accent5"/>
            </a:solidFill>
            <a:prstDash val="solid"/>
            <a:tailEnd type="triangle"/>
          </a:ln>
        </p:spPr>
      </p:sp>
      <p:sp>
        <p:nvSpPr>
          <p:cNvPr id="21" name="flow title 4"/>
          <p:cNvSpPr txBox="1"/>
          <p:nvPr/>
        </p:nvSpPr>
        <p:spPr>
          <a:xfrm>
            <a:off x="5349240" y="2286000"/>
            <a:ext cx="1417320" cy="548640"/>
          </a:xfrm>
          <a:prstGeom prst="rect">
            <a:avLst/>
          </a:prstGeom>
          <a:noFill/>
          <a:ln/>
        </p:spPr>
        <p:txBody>
          <a:bodyPr wrap="square" lIns="0" tIns="0" rIns="0" bIns="0" rtlCol="0" anchor="t"/>
          <a:lstStyle/>
          <a:p>
            <a:pPr algn="ctr" indent="0" marL="0">
              <a:buNone/>
            </a:pPr>
            <a:r>
              <a:rPr lang="en-US" sz="1400" b="1" dirty="0">
                <a:solidFill>
                  <a:schemeClr val="tx2"/>
                </a:solidFill>
              </a:rPr>
              <a:t>Maker submits</a:t>
            </a:r>
            <a:endParaRPr lang="en-US" sz="1400" dirty="0"/>
          </a:p>
        </p:txBody>
      </p:sp>
      <p:sp>
        <p:nvSpPr>
          <p:cNvPr id="22" name="flow desc 4"/>
          <p:cNvSpPr txBox="1"/>
          <p:nvPr/>
        </p:nvSpPr>
        <p:spPr>
          <a:xfrm>
            <a:off x="5349240" y="2834640"/>
            <a:ext cx="1417320" cy="1005840"/>
          </a:xfrm>
          <a:prstGeom prst="rect">
            <a:avLst/>
          </a:prstGeom>
          <a:noFill/>
          <a:ln/>
        </p:spPr>
        <p:txBody>
          <a:bodyPr wrap="square" lIns="0" tIns="0" rIns="0" bIns="0" rtlCol="0" anchor="t"/>
          <a:lstStyle/>
          <a:p>
            <a:pPr algn="ctr" indent="0" marL="0">
              <a:buNone/>
            </a:pPr>
            <a:r>
              <a:rPr lang="en-US" sz="1200" dirty="0">
                <a:solidFill>
                  <a:schemeClr val="tx1"/>
                </a:solidFill>
              </a:rPr>
              <a:t>Reviews held items; batch fingerprinted</a:t>
            </a:r>
            <a:endParaRPr lang="en-US" sz="1200" dirty="0"/>
          </a:p>
        </p:txBody>
      </p:sp>
      <p:sp>
        <p:nvSpPr>
          <p:cNvPr id="23" name="flow circle 5"/>
          <p:cNvSpPr/>
          <p:nvPr/>
        </p:nvSpPr>
        <p:spPr>
          <a:xfrm>
            <a:off x="7315200" y="1508760"/>
            <a:ext cx="640080" cy="640080"/>
          </a:xfrm>
          <a:prstGeom prst="ellipse">
            <a:avLst/>
          </a:prstGeom>
          <a:solidFill>
            <a:schemeClr val="accent5"/>
          </a:solidFill>
          <a:ln w="12700">
            <a:solidFill>
              <a:schemeClr val="accent5"/>
            </a:solidFill>
            <a:prstDash val="solid"/>
          </a:ln>
        </p:spPr>
      </p:sp>
      <p:sp>
        <p:nvSpPr>
          <p:cNvPr id="24" name="flow number 5"/>
          <p:cNvSpPr txBox="1"/>
          <p:nvPr/>
        </p:nvSpPr>
        <p:spPr>
          <a:xfrm>
            <a:off x="7315200" y="1508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5" name="flow connector 4"/>
          <p:cNvSpPr/>
          <p:nvPr/>
        </p:nvSpPr>
        <p:spPr>
          <a:xfrm>
            <a:off x="8019288" y="1828800"/>
            <a:ext cx="832104" cy="0"/>
          </a:xfrm>
          <a:prstGeom prst="line">
            <a:avLst/>
          </a:prstGeom>
          <a:noFill/>
          <a:ln w="15875">
            <a:solidFill>
              <a:schemeClr val="accent5"/>
            </a:solidFill>
            <a:prstDash val="solid"/>
            <a:tailEnd type="triangle"/>
          </a:ln>
        </p:spPr>
      </p:sp>
      <p:sp>
        <p:nvSpPr>
          <p:cNvPr id="26" name="flow title 5"/>
          <p:cNvSpPr txBox="1"/>
          <p:nvPr/>
        </p:nvSpPr>
        <p:spPr>
          <a:xfrm>
            <a:off x="6949440" y="2286000"/>
            <a:ext cx="1417320" cy="548640"/>
          </a:xfrm>
          <a:prstGeom prst="rect">
            <a:avLst/>
          </a:prstGeom>
          <a:noFill/>
          <a:ln/>
        </p:spPr>
        <p:txBody>
          <a:bodyPr wrap="square" lIns="0" tIns="0" rIns="0" bIns="0" rtlCol="0" anchor="t"/>
          <a:lstStyle/>
          <a:p>
            <a:pPr algn="ctr" indent="0" marL="0">
              <a:buNone/>
            </a:pPr>
            <a:r>
              <a:rPr lang="en-US" sz="1400" b="1" dirty="0">
                <a:solidFill>
                  <a:schemeClr val="tx2"/>
                </a:solidFill>
              </a:rPr>
              <a:t>Checker approves</a:t>
            </a:r>
            <a:endParaRPr lang="en-US" sz="1400" dirty="0"/>
          </a:p>
        </p:txBody>
      </p:sp>
      <p:sp>
        <p:nvSpPr>
          <p:cNvPr id="27" name="flow desc 5"/>
          <p:cNvSpPr txBox="1"/>
          <p:nvPr/>
        </p:nvSpPr>
        <p:spPr>
          <a:xfrm>
            <a:off x="6949440" y="2834640"/>
            <a:ext cx="1417320" cy="1005840"/>
          </a:xfrm>
          <a:prstGeom prst="rect">
            <a:avLst/>
          </a:prstGeom>
          <a:noFill/>
          <a:ln/>
        </p:spPr>
        <p:txBody>
          <a:bodyPr wrap="square" lIns="0" tIns="0" rIns="0" bIns="0" rtlCol="0" anchor="t"/>
          <a:lstStyle/>
          <a:p>
            <a:pPr algn="ctr" indent="0" marL="0">
              <a:buNone/>
            </a:pPr>
            <a:r>
              <a:rPr lang="en-US" sz="1200" dirty="0">
                <a:solidFill>
                  <a:schemeClr val="tx1"/>
                </a:solidFill>
              </a:rPr>
              <a:t>A different person; cannot be the maker</a:t>
            </a:r>
            <a:endParaRPr lang="en-US" sz="1200" dirty="0"/>
          </a:p>
        </p:txBody>
      </p:sp>
      <p:sp>
        <p:nvSpPr>
          <p:cNvPr id="28" name="flow circle 6"/>
          <p:cNvSpPr/>
          <p:nvPr/>
        </p:nvSpPr>
        <p:spPr>
          <a:xfrm>
            <a:off x="8915400" y="1508760"/>
            <a:ext cx="640080" cy="640080"/>
          </a:xfrm>
          <a:prstGeom prst="ellipse">
            <a:avLst/>
          </a:prstGeom>
          <a:solidFill>
            <a:schemeClr val="accent1"/>
          </a:solidFill>
          <a:ln w="12700">
            <a:solidFill>
              <a:schemeClr val="accent1"/>
            </a:solidFill>
            <a:prstDash val="solid"/>
          </a:ln>
        </p:spPr>
      </p:sp>
      <p:sp>
        <p:nvSpPr>
          <p:cNvPr id="29" name="flow number 6"/>
          <p:cNvSpPr txBox="1"/>
          <p:nvPr/>
        </p:nvSpPr>
        <p:spPr>
          <a:xfrm>
            <a:off x="8915400" y="1508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0" name="flow connector 5"/>
          <p:cNvSpPr/>
          <p:nvPr/>
        </p:nvSpPr>
        <p:spPr>
          <a:xfrm>
            <a:off x="9619488" y="1828800"/>
            <a:ext cx="832104" cy="0"/>
          </a:xfrm>
          <a:prstGeom prst="line">
            <a:avLst/>
          </a:prstGeom>
          <a:noFill/>
          <a:ln w="15875">
            <a:solidFill>
              <a:schemeClr val="accent5"/>
            </a:solidFill>
            <a:prstDash val="solid"/>
            <a:tailEnd type="triangle"/>
          </a:ln>
        </p:spPr>
      </p:sp>
      <p:sp>
        <p:nvSpPr>
          <p:cNvPr id="31" name="flow title 6"/>
          <p:cNvSpPr txBox="1"/>
          <p:nvPr/>
        </p:nvSpPr>
        <p:spPr>
          <a:xfrm>
            <a:off x="8549640" y="2286000"/>
            <a:ext cx="1417320" cy="548640"/>
          </a:xfrm>
          <a:prstGeom prst="rect">
            <a:avLst/>
          </a:prstGeom>
          <a:noFill/>
          <a:ln/>
        </p:spPr>
        <p:txBody>
          <a:bodyPr wrap="square" lIns="0" tIns="0" rIns="0" bIns="0" rtlCol="0" anchor="t"/>
          <a:lstStyle/>
          <a:p>
            <a:pPr algn="ctr" indent="0" marL="0">
              <a:buNone/>
            </a:pPr>
            <a:r>
              <a:rPr lang="en-US" sz="1400" b="1" dirty="0">
                <a:solidFill>
                  <a:schemeClr val="tx2"/>
                </a:solidFill>
              </a:rPr>
              <a:t>Send</a:t>
            </a:r>
            <a:endParaRPr lang="en-US" sz="1400" dirty="0"/>
          </a:p>
        </p:txBody>
      </p:sp>
      <p:sp>
        <p:nvSpPr>
          <p:cNvPr id="32" name="flow desc 6"/>
          <p:cNvSpPr txBox="1"/>
          <p:nvPr/>
        </p:nvSpPr>
        <p:spPr>
          <a:xfrm>
            <a:off x="8549640" y="2834640"/>
            <a:ext cx="1417320" cy="1005840"/>
          </a:xfrm>
          <a:prstGeom prst="rect">
            <a:avLst/>
          </a:prstGeom>
          <a:noFill/>
          <a:ln/>
        </p:spPr>
        <p:txBody>
          <a:bodyPr wrap="square" lIns="0" tIns="0" rIns="0" bIns="0" rtlCol="0" anchor="t"/>
          <a:lstStyle/>
          <a:p>
            <a:pPr algn="ctr" indent="0" marL="0">
              <a:buNone/>
            </a:pPr>
            <a:r>
              <a:rPr lang="en-US" sz="1200" dirty="0">
                <a:solidFill>
                  <a:schemeClr val="tx1"/>
                </a:solidFill>
              </a:rPr>
              <a:t>Dry run first; 1 email per customer</a:t>
            </a:r>
            <a:endParaRPr lang="en-US" sz="1200" dirty="0"/>
          </a:p>
        </p:txBody>
      </p:sp>
      <p:sp>
        <p:nvSpPr>
          <p:cNvPr id="33" name="flow circle 7"/>
          <p:cNvSpPr/>
          <p:nvPr/>
        </p:nvSpPr>
        <p:spPr>
          <a:xfrm>
            <a:off x="10515600" y="1508760"/>
            <a:ext cx="640080" cy="640080"/>
          </a:xfrm>
          <a:prstGeom prst="ellipse">
            <a:avLst/>
          </a:prstGeom>
          <a:solidFill>
            <a:schemeClr val="accent5"/>
          </a:solidFill>
          <a:ln w="12700">
            <a:solidFill>
              <a:schemeClr val="accent5"/>
            </a:solidFill>
            <a:prstDash val="solid"/>
          </a:ln>
        </p:spPr>
      </p:sp>
      <p:sp>
        <p:nvSpPr>
          <p:cNvPr id="34" name="flow number 7"/>
          <p:cNvSpPr txBox="1"/>
          <p:nvPr/>
        </p:nvSpPr>
        <p:spPr>
          <a:xfrm>
            <a:off x="10515600" y="1508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5" name="flow title 7"/>
          <p:cNvSpPr txBox="1"/>
          <p:nvPr/>
        </p:nvSpPr>
        <p:spPr>
          <a:xfrm>
            <a:off x="10149840" y="2286000"/>
            <a:ext cx="1417320" cy="548640"/>
          </a:xfrm>
          <a:prstGeom prst="rect">
            <a:avLst/>
          </a:prstGeom>
          <a:noFill/>
          <a:ln/>
        </p:spPr>
        <p:txBody>
          <a:bodyPr wrap="square" lIns="0" tIns="0" rIns="0" bIns="0" rtlCol="0" anchor="t"/>
          <a:lstStyle/>
          <a:p>
            <a:pPr algn="ctr" indent="0" marL="0">
              <a:buNone/>
            </a:pPr>
            <a:r>
              <a:rPr lang="en-US" sz="1400" b="1" dirty="0">
                <a:solidFill>
                  <a:schemeClr val="tx2"/>
                </a:solidFill>
              </a:rPr>
              <a:t>Verify &amp; report</a:t>
            </a:r>
            <a:endParaRPr lang="en-US" sz="1400" dirty="0"/>
          </a:p>
        </p:txBody>
      </p:sp>
      <p:sp>
        <p:nvSpPr>
          <p:cNvPr id="36" name="flow desc 7"/>
          <p:cNvSpPr txBox="1"/>
          <p:nvPr/>
        </p:nvSpPr>
        <p:spPr>
          <a:xfrm>
            <a:off x="10149840" y="2834640"/>
            <a:ext cx="1417320" cy="1005840"/>
          </a:xfrm>
          <a:prstGeom prst="rect">
            <a:avLst/>
          </a:prstGeom>
          <a:noFill/>
          <a:ln/>
        </p:spPr>
        <p:txBody>
          <a:bodyPr wrap="square" lIns="0" tIns="0" rIns="0" bIns="0" rtlCol="0" anchor="t"/>
          <a:lstStyle/>
          <a:p>
            <a:pPr algn="ctr" indent="0" marL="0">
              <a:buNone/>
            </a:pPr>
            <a:r>
              <a:rPr lang="en-US" sz="1200" dirty="0">
                <a:solidFill>
                  <a:schemeClr val="tx1"/>
                </a:solidFill>
              </a:rPr>
              <a:t>Outbox re-checked; audit trail; report</a:t>
            </a:r>
            <a:endParaRPr lang="en-US" sz="1200" dirty="0"/>
          </a:p>
        </p:txBody>
      </p:sp>
      <p:sp>
        <p:nvSpPr>
          <p:cNvPr id="37" name="legend dot Data protection"/>
          <p:cNvSpPr/>
          <p:nvPr/>
        </p:nvSpPr>
        <p:spPr>
          <a:xfrm>
            <a:off x="548640" y="4069080"/>
            <a:ext cx="182880" cy="182880"/>
          </a:xfrm>
          <a:prstGeom prst="ellipse">
            <a:avLst/>
          </a:prstGeom>
          <a:solidFill>
            <a:schemeClr val="accent4"/>
          </a:solidFill>
          <a:ln w="12700">
            <a:solidFill>
              <a:schemeClr val="accent4"/>
            </a:solidFill>
            <a:prstDash val="solid"/>
          </a:ln>
        </p:spPr>
      </p:sp>
      <p:sp>
        <p:nvSpPr>
          <p:cNvPr id="38" name="legend Data protection"/>
          <p:cNvSpPr txBox="1"/>
          <p:nvPr/>
        </p:nvSpPr>
        <p:spPr>
          <a:xfrm>
            <a:off x="822960" y="4005072"/>
            <a:ext cx="2011680" cy="320040"/>
          </a:xfrm>
          <a:prstGeom prst="rect">
            <a:avLst/>
          </a:prstGeom>
          <a:noFill/>
          <a:ln/>
        </p:spPr>
        <p:txBody>
          <a:bodyPr wrap="square" lIns="0" tIns="0" rIns="0" bIns="0" rtlCol="0" anchor="ctr"/>
          <a:lstStyle/>
          <a:p>
            <a:pPr indent="0" marL="0">
              <a:buNone/>
            </a:pPr>
            <a:r>
              <a:rPr lang="en-US" sz="1200" dirty="0">
                <a:solidFill>
                  <a:schemeClr val="accent5"/>
                </a:solidFill>
              </a:rPr>
              <a:t>Data protection</a:t>
            </a:r>
            <a:endParaRPr lang="en-US" sz="1200" dirty="0"/>
          </a:p>
        </p:txBody>
      </p:sp>
      <p:sp>
        <p:nvSpPr>
          <p:cNvPr id="39" name="legend dot Governance"/>
          <p:cNvSpPr/>
          <p:nvPr/>
        </p:nvSpPr>
        <p:spPr>
          <a:xfrm>
            <a:off x="2926080" y="4069080"/>
            <a:ext cx="182880" cy="182880"/>
          </a:xfrm>
          <a:prstGeom prst="ellipse">
            <a:avLst/>
          </a:prstGeom>
          <a:solidFill>
            <a:schemeClr val="accent5"/>
          </a:solidFill>
          <a:ln w="12700">
            <a:solidFill>
              <a:schemeClr val="accent5"/>
            </a:solidFill>
            <a:prstDash val="solid"/>
          </a:ln>
        </p:spPr>
      </p:sp>
      <p:sp>
        <p:nvSpPr>
          <p:cNvPr id="40" name="legend Governance"/>
          <p:cNvSpPr txBox="1"/>
          <p:nvPr/>
        </p:nvSpPr>
        <p:spPr>
          <a:xfrm>
            <a:off x="3200400" y="4005072"/>
            <a:ext cx="2011680" cy="320040"/>
          </a:xfrm>
          <a:prstGeom prst="rect">
            <a:avLst/>
          </a:prstGeom>
          <a:noFill/>
          <a:ln/>
        </p:spPr>
        <p:txBody>
          <a:bodyPr wrap="square" lIns="0" tIns="0" rIns="0" bIns="0" rtlCol="0" anchor="ctr"/>
          <a:lstStyle/>
          <a:p>
            <a:pPr indent="0" marL="0">
              <a:buNone/>
            </a:pPr>
            <a:r>
              <a:rPr lang="en-US" sz="1200" dirty="0">
                <a:solidFill>
                  <a:schemeClr val="accent5"/>
                </a:solidFill>
              </a:rPr>
              <a:t>Governance</a:t>
            </a:r>
            <a:endParaRPr lang="en-US" sz="1200" dirty="0"/>
          </a:p>
        </p:txBody>
      </p:sp>
      <p:sp>
        <p:nvSpPr>
          <p:cNvPr id="41" name="legend dot Process improvement"/>
          <p:cNvSpPr/>
          <p:nvPr/>
        </p:nvSpPr>
        <p:spPr>
          <a:xfrm>
            <a:off x="5303520" y="4069080"/>
            <a:ext cx="182880" cy="182880"/>
          </a:xfrm>
          <a:prstGeom prst="ellipse">
            <a:avLst/>
          </a:prstGeom>
          <a:solidFill>
            <a:schemeClr val="accent1"/>
          </a:solidFill>
          <a:ln w="12700">
            <a:solidFill>
              <a:schemeClr val="accent1"/>
            </a:solidFill>
            <a:prstDash val="solid"/>
          </a:ln>
        </p:spPr>
      </p:sp>
      <p:sp>
        <p:nvSpPr>
          <p:cNvPr id="42" name="legend Process improvement"/>
          <p:cNvSpPr txBox="1"/>
          <p:nvPr/>
        </p:nvSpPr>
        <p:spPr>
          <a:xfrm>
            <a:off x="5577840" y="4005072"/>
            <a:ext cx="2011680" cy="320040"/>
          </a:xfrm>
          <a:prstGeom prst="rect">
            <a:avLst/>
          </a:prstGeom>
          <a:noFill/>
          <a:ln/>
        </p:spPr>
        <p:txBody>
          <a:bodyPr wrap="square" lIns="0" tIns="0" rIns="0" bIns="0" rtlCol="0" anchor="ctr"/>
          <a:lstStyle/>
          <a:p>
            <a:pPr indent="0" marL="0">
              <a:buNone/>
            </a:pPr>
            <a:r>
              <a:rPr lang="en-US" sz="1200" dirty="0">
                <a:solidFill>
                  <a:schemeClr val="accent5"/>
                </a:solidFill>
              </a:rPr>
              <a:t>Process improvement</a:t>
            </a:r>
            <a:endParaRPr lang="en-US" sz="1200" dirty="0"/>
          </a:p>
        </p:txBody>
      </p:sp>
      <p:sp>
        <p:nvSpPr>
          <p:cNvPr id="43" name="example card"/>
          <p:cNvSpPr/>
          <p:nvPr/>
        </p:nvSpPr>
        <p:spPr>
          <a:xfrm>
            <a:off x="548640" y="4526280"/>
            <a:ext cx="11064240" cy="1325880"/>
          </a:xfrm>
          <a:prstGeom prst="roundRect">
            <a:avLst>
              <a:gd name="adj" fmla="val 5517"/>
            </a:avLst>
          </a:prstGeom>
          <a:solidFill>
            <a:schemeClr val="bg2"/>
          </a:solidFill>
          <a:ln w="12700">
            <a:solidFill>
              <a:schemeClr val="bg2"/>
            </a:solidFill>
            <a:prstDash val="solid"/>
          </a:ln>
        </p:spPr>
      </p:sp>
      <p:sp>
        <p:nvSpPr>
          <p:cNvPr id="44" name="example text"/>
          <p:cNvSpPr txBox="1"/>
          <p:nvPr/>
        </p:nvSpPr>
        <p:spPr>
          <a:xfrm>
            <a:off x="822960" y="4617720"/>
            <a:ext cx="10515600" cy="1143000"/>
          </a:xfrm>
          <a:prstGeom prst="rect">
            <a:avLst/>
          </a:prstGeom>
          <a:noFill/>
          <a:ln/>
        </p:spPr>
        <p:txBody>
          <a:bodyPr wrap="square" lIns="0" tIns="0" rIns="0" bIns="0" rtlCol="0" anchor="ctr"/>
          <a:lstStyle/>
          <a:p>
            <a:pPr indent="0" marL="0">
              <a:buNone/>
            </a:pPr>
            <a:r>
              <a:rPr lang="en-US" sz="1500" b="1" dirty="0">
                <a:solidFill>
                  <a:schemeClr val="accent4"/>
                </a:solidFill>
              </a:rPr>
              <a:t>Example  </a:t>
            </a:r>
            <a:pPr indent="0" marL="0">
              <a:buNone/>
            </a:pPr>
            <a:r>
              <a:rPr lang="en-US" sz="1500" dirty="0">
                <a:solidFill>
                  <a:schemeClr val="tx1"/>
                </a:solidFill>
              </a:rPr>
              <a:t>Budi, Bandung branch: To budi@..., CC branch.bdg@... only. The attachment contains Budi's own policy and NIK and opens only with his date of birth. Surabaya never receives anything about Budi.</a:t>
            </a:r>
            <a:endParaRPr lang="en-US" sz="15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Governance is enforced by the system, not left to good intentions</a:t>
            </a:r>
            <a:endParaRPr lang="en-US" sz="2400" dirty="0"/>
          </a:p>
        </p:txBody>
      </p:sp>
      <p:sp>
        <p:nvSpPr>
          <p:cNvPr id="3" name="Maker-checker card"/>
          <p:cNvSpPr/>
          <p:nvPr/>
        </p:nvSpPr>
        <p:spPr>
          <a:xfrm>
            <a:off x="548640" y="1417320"/>
            <a:ext cx="5440680" cy="2103120"/>
          </a:xfrm>
          <a:prstGeom prst="roundRect">
            <a:avLst>
              <a:gd name="adj" fmla="val 3478"/>
            </a:avLst>
          </a:prstGeom>
          <a:solidFill>
            <a:schemeClr val="bg2"/>
          </a:solidFill>
          <a:ln w="12700">
            <a:solidFill>
              <a:schemeClr val="bg2"/>
            </a:solidFill>
            <a:prstDash val="solid"/>
          </a:ln>
        </p:spPr>
      </p:sp>
      <p:sp>
        <p:nvSpPr>
          <p:cNvPr id="4" name="Maker-checker circle"/>
          <p:cNvSpPr/>
          <p:nvPr/>
        </p:nvSpPr>
        <p:spPr>
          <a:xfrm>
            <a:off x="822960" y="1691640"/>
            <a:ext cx="685800" cy="685800"/>
          </a:xfrm>
          <a:prstGeom prst="ellipse">
            <a:avLst/>
          </a:prstGeom>
          <a:solidFill>
            <a:schemeClr val="accent5"/>
          </a:solidFill>
          <a:ln w="12700">
            <a:solidFill>
              <a:schemeClr val="accent5"/>
            </a:solidFill>
            <a:prstDash val="solid"/>
          </a:ln>
        </p:spPr>
      </p:sp>
      <p:pic>
        <p:nvPicPr>
          <p:cNvPr id="5" name="Maker-checker icon" descr="preencoded.png">    </p:cNvPr>
          <p:cNvPicPr>
            <a:picLocks noChangeAspect="1"/>
          </p:cNvPicPr>
          <p:nvPr/>
        </p:nvPicPr>
        <p:blipFill>
          <a:blip r:embed="rId1"/>
          <a:stretch>
            <a:fillRect/>
          </a:stretch>
        </p:blipFill>
        <p:spPr>
          <a:xfrm>
            <a:off x="987552" y="1856232"/>
            <a:ext cx="356616" cy="356616"/>
          </a:xfrm>
          <a:prstGeom prst="rect">
            <a:avLst/>
          </a:prstGeom>
        </p:spPr>
      </p:pic>
      <p:sp>
        <p:nvSpPr>
          <p:cNvPr id="6" name="Maker-checker heading"/>
          <p:cNvSpPr txBox="1"/>
          <p:nvPr/>
        </p:nvSpPr>
        <p:spPr>
          <a:xfrm>
            <a:off x="1737360" y="1691640"/>
            <a:ext cx="4069080" cy="457200"/>
          </a:xfrm>
          <a:prstGeom prst="rect">
            <a:avLst/>
          </a:prstGeom>
          <a:noFill/>
          <a:ln/>
        </p:spPr>
        <p:txBody>
          <a:bodyPr wrap="square" lIns="0" tIns="0" rIns="0" bIns="0" rtlCol="0" anchor="ctr"/>
          <a:lstStyle/>
          <a:p>
            <a:pPr indent="0" marL="0">
              <a:buNone/>
            </a:pPr>
            <a:r>
              <a:rPr lang="en-US" sz="1800" b="1" dirty="0">
                <a:solidFill>
                  <a:schemeClr val="tx2"/>
                </a:solidFill>
              </a:rPr>
              <a:t>Maker-checker</a:t>
            </a:r>
            <a:endParaRPr lang="en-US" sz="1800" dirty="0"/>
          </a:p>
        </p:txBody>
      </p:sp>
      <p:sp>
        <p:nvSpPr>
          <p:cNvPr id="7" name="Maker-checker text"/>
          <p:cNvSpPr txBox="1"/>
          <p:nvPr/>
        </p:nvSpPr>
        <p:spPr>
          <a:xfrm>
            <a:off x="1737360" y="2194560"/>
            <a:ext cx="4023360" cy="1143000"/>
          </a:xfrm>
          <a:prstGeom prst="rect">
            <a:avLst/>
          </a:prstGeom>
          <a:noFill/>
          <a:ln/>
        </p:spPr>
        <p:txBody>
          <a:bodyPr wrap="square" lIns="0" tIns="0" rIns="0" bIns="0" rtlCol="0" anchor="t"/>
          <a:lstStyle/>
          <a:p>
            <a:pPr indent="0" marL="0">
              <a:buNone/>
            </a:pPr>
            <a:r>
              <a:rPr lang="en-US" sz="1400" dirty="0">
                <a:solidFill>
                  <a:schemeClr val="tx1"/>
                </a:solidFill>
              </a:rPr>
              <a:t>The maker submits, a different checker approves. The batch is fingerprinted at submission; any later change forces a resubmission.</a:t>
            </a:r>
            <a:endParaRPr lang="en-US" sz="1400" dirty="0"/>
          </a:p>
        </p:txBody>
      </p:sp>
      <p:sp>
        <p:nvSpPr>
          <p:cNvPr id="8" name="Kill switch card"/>
          <p:cNvSpPr/>
          <p:nvPr/>
        </p:nvSpPr>
        <p:spPr>
          <a:xfrm>
            <a:off x="6172200" y="1417320"/>
            <a:ext cx="5440680" cy="2103120"/>
          </a:xfrm>
          <a:prstGeom prst="roundRect">
            <a:avLst>
              <a:gd name="adj" fmla="val 3478"/>
            </a:avLst>
          </a:prstGeom>
          <a:solidFill>
            <a:schemeClr val="bg2"/>
          </a:solidFill>
          <a:ln w="12700">
            <a:solidFill>
              <a:schemeClr val="bg2"/>
            </a:solidFill>
            <a:prstDash val="solid"/>
          </a:ln>
        </p:spPr>
      </p:sp>
      <p:sp>
        <p:nvSpPr>
          <p:cNvPr id="9" name="Kill switch circle"/>
          <p:cNvSpPr/>
          <p:nvPr/>
        </p:nvSpPr>
        <p:spPr>
          <a:xfrm>
            <a:off x="6446520" y="1691640"/>
            <a:ext cx="685800" cy="685800"/>
          </a:xfrm>
          <a:prstGeom prst="ellipse">
            <a:avLst/>
          </a:prstGeom>
          <a:solidFill>
            <a:schemeClr val="accent5"/>
          </a:solidFill>
          <a:ln w="12700">
            <a:solidFill>
              <a:schemeClr val="accent5"/>
            </a:solidFill>
            <a:prstDash val="solid"/>
          </a:ln>
        </p:spPr>
      </p:sp>
      <p:pic>
        <p:nvPicPr>
          <p:cNvPr id="10" name="Kill switch icon" descr="preencoded.png">    </p:cNvPr>
          <p:cNvPicPr>
            <a:picLocks noChangeAspect="1"/>
          </p:cNvPicPr>
          <p:nvPr/>
        </p:nvPicPr>
        <p:blipFill>
          <a:blip r:embed="rId2"/>
          <a:stretch>
            <a:fillRect/>
          </a:stretch>
        </p:blipFill>
        <p:spPr>
          <a:xfrm>
            <a:off x="6611112" y="1856232"/>
            <a:ext cx="356616" cy="356616"/>
          </a:xfrm>
          <a:prstGeom prst="rect">
            <a:avLst/>
          </a:prstGeom>
        </p:spPr>
      </p:pic>
      <p:sp>
        <p:nvSpPr>
          <p:cNvPr id="11" name="Kill switch heading"/>
          <p:cNvSpPr txBox="1"/>
          <p:nvPr/>
        </p:nvSpPr>
        <p:spPr>
          <a:xfrm>
            <a:off x="7360920" y="1691640"/>
            <a:ext cx="4069080" cy="457200"/>
          </a:xfrm>
          <a:prstGeom prst="rect">
            <a:avLst/>
          </a:prstGeom>
          <a:noFill/>
          <a:ln/>
        </p:spPr>
        <p:txBody>
          <a:bodyPr wrap="square" lIns="0" tIns="0" rIns="0" bIns="0" rtlCol="0" anchor="ctr"/>
          <a:lstStyle/>
          <a:p>
            <a:pPr indent="0" marL="0">
              <a:buNone/>
            </a:pPr>
            <a:r>
              <a:rPr lang="en-US" sz="1800" b="1" dirty="0">
                <a:solidFill>
                  <a:schemeClr val="tx2"/>
                </a:solidFill>
              </a:rPr>
              <a:t>Kill switch</a:t>
            </a:r>
            <a:endParaRPr lang="en-US" sz="1800" dirty="0"/>
          </a:p>
        </p:txBody>
      </p:sp>
      <p:sp>
        <p:nvSpPr>
          <p:cNvPr id="12" name="Kill switch text"/>
          <p:cNvSpPr txBox="1"/>
          <p:nvPr/>
        </p:nvSpPr>
        <p:spPr>
          <a:xfrm>
            <a:off x="7360920" y="2194560"/>
            <a:ext cx="4023360" cy="1143000"/>
          </a:xfrm>
          <a:prstGeom prst="rect">
            <a:avLst/>
          </a:prstGeom>
          <a:noFill/>
          <a:ln/>
        </p:spPr>
        <p:txBody>
          <a:bodyPr wrap="square" lIns="0" tIns="0" rIns="0" bIns="0" rtlCol="0" anchor="t"/>
          <a:lstStyle/>
          <a:p>
            <a:pPr indent="0" marL="0">
              <a:buNone/>
            </a:pPr>
            <a:r>
              <a:rPr lang="en-US" sz="1400" dirty="0">
                <a:solidFill>
                  <a:schemeClr val="tx1"/>
                </a:solidFill>
              </a:rPr>
              <a:t>The batch halts automatically if more than 20% is quarantined, any file changes after approval, or sending fails repeatedly.</a:t>
            </a:r>
            <a:endParaRPr lang="en-US" sz="1400" dirty="0"/>
          </a:p>
        </p:txBody>
      </p:sp>
      <p:sp>
        <p:nvSpPr>
          <p:cNvPr id="13" name="Audit trail card"/>
          <p:cNvSpPr/>
          <p:nvPr/>
        </p:nvSpPr>
        <p:spPr>
          <a:xfrm>
            <a:off x="548640" y="3703320"/>
            <a:ext cx="5440680" cy="2103120"/>
          </a:xfrm>
          <a:prstGeom prst="roundRect">
            <a:avLst>
              <a:gd name="adj" fmla="val 3478"/>
            </a:avLst>
          </a:prstGeom>
          <a:solidFill>
            <a:schemeClr val="bg2"/>
          </a:solidFill>
          <a:ln w="12700">
            <a:solidFill>
              <a:schemeClr val="bg2"/>
            </a:solidFill>
            <a:prstDash val="solid"/>
          </a:ln>
        </p:spPr>
      </p:sp>
      <p:sp>
        <p:nvSpPr>
          <p:cNvPr id="14" name="Audit trail circle"/>
          <p:cNvSpPr/>
          <p:nvPr/>
        </p:nvSpPr>
        <p:spPr>
          <a:xfrm>
            <a:off x="822960" y="3977640"/>
            <a:ext cx="685800" cy="685800"/>
          </a:xfrm>
          <a:prstGeom prst="ellipse">
            <a:avLst/>
          </a:prstGeom>
          <a:solidFill>
            <a:schemeClr val="accent5"/>
          </a:solidFill>
          <a:ln w="12700">
            <a:solidFill>
              <a:schemeClr val="accent5"/>
            </a:solidFill>
            <a:prstDash val="solid"/>
          </a:ln>
        </p:spPr>
      </p:sp>
      <p:pic>
        <p:nvPicPr>
          <p:cNvPr id="15" name="Audit trail icon" descr="preencoded.png">    </p:cNvPr>
          <p:cNvPicPr>
            <a:picLocks noChangeAspect="1"/>
          </p:cNvPicPr>
          <p:nvPr/>
        </p:nvPicPr>
        <p:blipFill>
          <a:blip r:embed="rId3"/>
          <a:stretch>
            <a:fillRect/>
          </a:stretch>
        </p:blipFill>
        <p:spPr>
          <a:xfrm>
            <a:off x="987552" y="4142232"/>
            <a:ext cx="356616" cy="356616"/>
          </a:xfrm>
          <a:prstGeom prst="rect">
            <a:avLst/>
          </a:prstGeom>
        </p:spPr>
      </p:pic>
      <p:sp>
        <p:nvSpPr>
          <p:cNvPr id="16" name="Audit trail heading"/>
          <p:cNvSpPr txBox="1"/>
          <p:nvPr/>
        </p:nvSpPr>
        <p:spPr>
          <a:xfrm>
            <a:off x="1737360" y="3977640"/>
            <a:ext cx="4069080" cy="457200"/>
          </a:xfrm>
          <a:prstGeom prst="rect">
            <a:avLst/>
          </a:prstGeom>
          <a:noFill/>
          <a:ln/>
        </p:spPr>
        <p:txBody>
          <a:bodyPr wrap="square" lIns="0" tIns="0" rIns="0" bIns="0" rtlCol="0" anchor="ctr"/>
          <a:lstStyle/>
          <a:p>
            <a:pPr indent="0" marL="0">
              <a:buNone/>
            </a:pPr>
            <a:r>
              <a:rPr lang="en-US" sz="1800" b="1" dirty="0">
                <a:solidFill>
                  <a:schemeClr val="tx2"/>
                </a:solidFill>
              </a:rPr>
              <a:t>Audit trail</a:t>
            </a:r>
            <a:endParaRPr lang="en-US" sz="1800" dirty="0"/>
          </a:p>
        </p:txBody>
      </p:sp>
      <p:sp>
        <p:nvSpPr>
          <p:cNvPr id="17" name="Audit trail text"/>
          <p:cNvSpPr txBox="1"/>
          <p:nvPr/>
        </p:nvSpPr>
        <p:spPr>
          <a:xfrm>
            <a:off x="1737360" y="4480560"/>
            <a:ext cx="4023360" cy="1143000"/>
          </a:xfrm>
          <a:prstGeom prst="rect">
            <a:avLst/>
          </a:prstGeom>
          <a:noFill/>
          <a:ln/>
        </p:spPr>
        <p:txBody>
          <a:bodyPr wrap="square" lIns="0" tIns="0" rIns="0" bIns="0" rtlCol="0" anchor="t"/>
          <a:lstStyle/>
          <a:p>
            <a:pPr indent="0" marL="0">
              <a:buNone/>
            </a:pPr>
            <a:r>
              <a:rPr lang="en-US" sz="1400" dirty="0">
                <a:solidFill>
                  <a:schemeClr val="tx1"/>
                </a:solidFill>
              </a:rPr>
              <a:t>Every validation, approval and email is logged with personal data masked; every run scans logs and reports for raw NIK.</a:t>
            </a:r>
            <a:endParaRPr lang="en-US" sz="1400" dirty="0"/>
          </a:p>
        </p:txBody>
      </p:sp>
      <p:sp>
        <p:nvSpPr>
          <p:cNvPr id="18" name="Governance documents card"/>
          <p:cNvSpPr/>
          <p:nvPr/>
        </p:nvSpPr>
        <p:spPr>
          <a:xfrm>
            <a:off x="6172200" y="3703320"/>
            <a:ext cx="5440680" cy="2103120"/>
          </a:xfrm>
          <a:prstGeom prst="roundRect">
            <a:avLst>
              <a:gd name="adj" fmla="val 3478"/>
            </a:avLst>
          </a:prstGeom>
          <a:solidFill>
            <a:schemeClr val="bg2"/>
          </a:solidFill>
          <a:ln w="12700">
            <a:solidFill>
              <a:schemeClr val="bg2"/>
            </a:solidFill>
            <a:prstDash val="solid"/>
          </a:ln>
        </p:spPr>
      </p:sp>
      <p:sp>
        <p:nvSpPr>
          <p:cNvPr id="19" name="Governance documents circle"/>
          <p:cNvSpPr/>
          <p:nvPr/>
        </p:nvSpPr>
        <p:spPr>
          <a:xfrm>
            <a:off x="6446520" y="3977640"/>
            <a:ext cx="685800" cy="685800"/>
          </a:xfrm>
          <a:prstGeom prst="ellipse">
            <a:avLst/>
          </a:prstGeom>
          <a:solidFill>
            <a:schemeClr val="accent5"/>
          </a:solidFill>
          <a:ln w="12700">
            <a:solidFill>
              <a:schemeClr val="accent5"/>
            </a:solidFill>
            <a:prstDash val="solid"/>
          </a:ln>
        </p:spPr>
      </p:sp>
      <p:pic>
        <p:nvPicPr>
          <p:cNvPr id="20" name="Governance documents icon" descr="preencoded.png">    </p:cNvPr>
          <p:cNvPicPr>
            <a:picLocks noChangeAspect="1"/>
          </p:cNvPicPr>
          <p:nvPr/>
        </p:nvPicPr>
        <p:blipFill>
          <a:blip r:embed="rId4"/>
          <a:stretch>
            <a:fillRect/>
          </a:stretch>
        </p:blipFill>
        <p:spPr>
          <a:xfrm>
            <a:off x="6611112" y="4142232"/>
            <a:ext cx="356616" cy="356616"/>
          </a:xfrm>
          <a:prstGeom prst="rect">
            <a:avLst/>
          </a:prstGeom>
        </p:spPr>
      </p:pic>
      <p:sp>
        <p:nvSpPr>
          <p:cNvPr id="21" name="Governance documents heading"/>
          <p:cNvSpPr txBox="1"/>
          <p:nvPr/>
        </p:nvSpPr>
        <p:spPr>
          <a:xfrm>
            <a:off x="7360920" y="3977640"/>
            <a:ext cx="4069080" cy="457200"/>
          </a:xfrm>
          <a:prstGeom prst="rect">
            <a:avLst/>
          </a:prstGeom>
          <a:noFill/>
          <a:ln/>
        </p:spPr>
        <p:txBody>
          <a:bodyPr wrap="square" lIns="0" tIns="0" rIns="0" bIns="0" rtlCol="0" anchor="ctr"/>
          <a:lstStyle/>
          <a:p>
            <a:pPr indent="0" marL="0">
              <a:buNone/>
            </a:pPr>
            <a:r>
              <a:rPr lang="en-US" sz="1800" b="1" dirty="0">
                <a:solidFill>
                  <a:schemeClr val="tx2"/>
                </a:solidFill>
              </a:rPr>
              <a:t>Governance documents</a:t>
            </a:r>
            <a:endParaRPr lang="en-US" sz="1800" dirty="0"/>
          </a:p>
        </p:txBody>
      </p:sp>
      <p:sp>
        <p:nvSpPr>
          <p:cNvPr id="22" name="Governance documents text"/>
          <p:cNvSpPr txBox="1"/>
          <p:nvPr/>
        </p:nvSpPr>
        <p:spPr>
          <a:xfrm>
            <a:off x="7360920" y="4480560"/>
            <a:ext cx="4023360" cy="1143000"/>
          </a:xfrm>
          <a:prstGeom prst="rect">
            <a:avLst/>
          </a:prstGeom>
          <a:noFill/>
          <a:ln/>
        </p:spPr>
        <p:txBody>
          <a:bodyPr wrap="square" lIns="0" tIns="0" rIns="0" bIns="0" rtlCol="0" anchor="t"/>
          <a:lstStyle/>
          <a:p>
            <a:pPr indent="0" marL="0">
              <a:buNone/>
            </a:pPr>
            <a:r>
              <a:rPr lang="en-US" sz="1400" dirty="0">
                <a:solidFill>
                  <a:schemeClr val="tx1"/>
                </a:solidFill>
              </a:rPr>
              <a:t>Risk &amp; control matrix (16 risks), RACI and SOP, and an incident playbook with the UU PDP 3 x 24 hour notification.</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All 42 deliberately injected defects were caught and none reached a customer</a:t>
            </a:r>
            <a:endParaRPr lang="en-US" sz="2400" dirty="0"/>
          </a:p>
        </p:txBody>
      </p:sp>
      <p:graphicFrame>
        <p:nvGraphicFramePr>
          <p:cNvPr id="3" name="held by control chart" descr=""/>
          <p:cNvGraphicFramePr/>
          <p:nvPr/>
        </p:nvGraphicFramePr>
        <p:xfrm>
          <a:off x="548640" y="13716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stat card 0"/>
          <p:cNvSpPr/>
          <p:nvPr/>
        </p:nvSpPr>
        <p:spPr>
          <a:xfrm>
            <a:off x="7680960" y="1463040"/>
            <a:ext cx="3931920" cy="1280160"/>
          </a:xfrm>
          <a:prstGeom prst="roundRect">
            <a:avLst>
              <a:gd name="adj" fmla="val 5714"/>
            </a:avLst>
          </a:prstGeom>
          <a:solidFill>
            <a:schemeClr val="bg2"/>
          </a:solidFill>
          <a:ln w="12700">
            <a:solidFill>
              <a:schemeClr val="bg2"/>
            </a:solidFill>
            <a:prstDash val="solid"/>
          </a:ln>
        </p:spPr>
      </p:sp>
      <p:sp>
        <p:nvSpPr>
          <p:cNvPr id="5" name="stat 0"/>
          <p:cNvSpPr txBox="1"/>
          <p:nvPr/>
        </p:nvSpPr>
        <p:spPr>
          <a:xfrm>
            <a:off x="7909560" y="1554480"/>
            <a:ext cx="1737360" cy="10972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42 / 42</a:t>
            </a:r>
            <a:endParaRPr lang="en-US" sz="3600" dirty="0"/>
          </a:p>
        </p:txBody>
      </p:sp>
      <p:sp>
        <p:nvSpPr>
          <p:cNvPr id="6" name="stat label 0"/>
          <p:cNvSpPr txBox="1"/>
          <p:nvPr/>
        </p:nvSpPr>
        <p:spPr>
          <a:xfrm>
            <a:off x="9646920" y="1554480"/>
            <a:ext cx="1828800" cy="1097280"/>
          </a:xfrm>
          <a:prstGeom prst="rect">
            <a:avLst/>
          </a:prstGeom>
          <a:noFill/>
          <a:ln/>
        </p:spPr>
        <p:txBody>
          <a:bodyPr wrap="square" lIns="0" tIns="0" rIns="0" bIns="0" rtlCol="0" anchor="ctr"/>
          <a:lstStyle/>
          <a:p>
            <a:pPr indent="0" marL="0">
              <a:buNone/>
            </a:pPr>
            <a:r>
              <a:rPr lang="en-US" sz="1400" dirty="0">
                <a:solidFill>
                  <a:schemeClr val="tx1"/>
                </a:solidFill>
              </a:rPr>
              <a:t>injected defects caught by the intended control</a:t>
            </a:r>
            <a:endParaRPr lang="en-US" sz="1400" dirty="0"/>
          </a:p>
        </p:txBody>
      </p:sp>
      <p:sp>
        <p:nvSpPr>
          <p:cNvPr id="7" name="stat card 1"/>
          <p:cNvSpPr/>
          <p:nvPr/>
        </p:nvSpPr>
        <p:spPr>
          <a:xfrm>
            <a:off x="7680960" y="2926080"/>
            <a:ext cx="3931920" cy="1280160"/>
          </a:xfrm>
          <a:prstGeom prst="roundRect">
            <a:avLst>
              <a:gd name="adj" fmla="val 5714"/>
            </a:avLst>
          </a:prstGeom>
          <a:solidFill>
            <a:schemeClr val="bg2"/>
          </a:solidFill>
          <a:ln w="12700">
            <a:solidFill>
              <a:schemeClr val="bg2"/>
            </a:solidFill>
            <a:prstDash val="solid"/>
          </a:ln>
        </p:spPr>
      </p:sp>
      <p:sp>
        <p:nvSpPr>
          <p:cNvPr id="8" name="stat 1"/>
          <p:cNvSpPr txBox="1"/>
          <p:nvPr/>
        </p:nvSpPr>
        <p:spPr>
          <a:xfrm>
            <a:off x="7909560" y="3017520"/>
            <a:ext cx="1737360" cy="10972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a:t>
            </a:r>
            <a:endParaRPr lang="en-US" sz="3600" dirty="0"/>
          </a:p>
        </p:txBody>
      </p:sp>
      <p:sp>
        <p:nvSpPr>
          <p:cNvPr id="9" name="stat label 1"/>
          <p:cNvSpPr txBox="1"/>
          <p:nvPr/>
        </p:nvSpPr>
        <p:spPr>
          <a:xfrm>
            <a:off x="9646920" y="3017520"/>
            <a:ext cx="1828800" cy="1097280"/>
          </a:xfrm>
          <a:prstGeom prst="rect">
            <a:avLst/>
          </a:prstGeom>
          <a:noFill/>
          <a:ln/>
        </p:spPr>
        <p:txBody>
          <a:bodyPr wrap="square" lIns="0" tIns="0" rIns="0" bIns="0" rtlCol="0" anchor="ctr"/>
          <a:lstStyle/>
          <a:p>
            <a:pPr indent="0" marL="0">
              <a:buNone/>
            </a:pPr>
            <a:r>
              <a:rPr lang="en-US" sz="1400" dirty="0">
                <a:solidFill>
                  <a:schemeClr val="tx1"/>
                </a:solidFill>
              </a:rPr>
              <a:t>defects that reached a customer</a:t>
            </a:r>
            <a:endParaRPr lang="en-US" sz="1400" dirty="0"/>
          </a:p>
        </p:txBody>
      </p:sp>
      <p:sp>
        <p:nvSpPr>
          <p:cNvPr id="10" name="stat card 2"/>
          <p:cNvSpPr/>
          <p:nvPr/>
        </p:nvSpPr>
        <p:spPr>
          <a:xfrm>
            <a:off x="7680960" y="4389120"/>
            <a:ext cx="3931920" cy="1280160"/>
          </a:xfrm>
          <a:prstGeom prst="roundRect">
            <a:avLst>
              <a:gd name="adj" fmla="val 5714"/>
            </a:avLst>
          </a:prstGeom>
          <a:solidFill>
            <a:schemeClr val="bg2"/>
          </a:solidFill>
          <a:ln w="12700">
            <a:solidFill>
              <a:schemeClr val="bg2"/>
            </a:solidFill>
            <a:prstDash val="solid"/>
          </a:ln>
        </p:spPr>
      </p:sp>
      <p:sp>
        <p:nvSpPr>
          <p:cNvPr id="11" name="stat 2"/>
          <p:cNvSpPr txBox="1"/>
          <p:nvPr/>
        </p:nvSpPr>
        <p:spPr>
          <a:xfrm>
            <a:off x="7909560" y="4480560"/>
            <a:ext cx="1737360" cy="10972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a:t>
            </a:r>
            <a:endParaRPr lang="en-US" sz="3600" dirty="0"/>
          </a:p>
        </p:txBody>
      </p:sp>
      <p:sp>
        <p:nvSpPr>
          <p:cNvPr id="12" name="stat label 2"/>
          <p:cNvSpPr txBox="1"/>
          <p:nvPr/>
        </p:nvSpPr>
        <p:spPr>
          <a:xfrm>
            <a:off x="9646920" y="4480560"/>
            <a:ext cx="1828800" cy="1097280"/>
          </a:xfrm>
          <a:prstGeom prst="rect">
            <a:avLst/>
          </a:prstGeom>
          <a:noFill/>
          <a:ln/>
        </p:spPr>
        <p:txBody>
          <a:bodyPr wrap="square" lIns="0" tIns="0" rIns="0" bIns="0" rtlCol="0" anchor="ctr"/>
          <a:lstStyle/>
          <a:p>
            <a:pPr indent="0" marL="0">
              <a:buNone/>
            </a:pPr>
            <a:r>
              <a:rPr lang="en-US" sz="1400" dirty="0">
                <a:solidFill>
                  <a:schemeClr val="tx1"/>
                </a:solidFill>
              </a:rPr>
              <a:t>clean letters held by mistake</a:t>
            </a:r>
            <a:endParaRPr lang="en-US" sz="1400" dirty="0"/>
          </a:p>
        </p:txBody>
      </p:sp>
      <p:sp>
        <p:nvSpPr>
          <p:cNvPr id="13" name="footnot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accent5"/>
                </a:solidFill>
              </a:rPr>
              <a:t>Injected per batch: swapped letters, foreign NIK, stale and mistyped emails, wrong branch, manual external CC, two recipients, NIK in file name, missing, duplicate, ambiguous and orphan files.</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An independent re-check of all 411 sent emails shows each branch received only its own customers</a:t>
            </a:r>
            <a:endParaRPr lang="en-US" sz="2400" dirty="0"/>
          </a:p>
        </p:txBody>
      </p:sp>
      <p:graphicFrame>
        <p:nvGraphicFramePr>
          <p:cNvPr id="10" name="leakage matrix table"/>
          <p:cNvGraphicFramePr>
            <a:graphicFrameLocks noGrp="1"/>
          </p:cNvGraphicFramePr>
          <p:nvPr>
            <p:extLst>
              <p:ext uri="{D42A27DB-BD31-4B8C-83A1-F6EECF244321}">
                <p14:modId xmlns:p14="http://schemas.microsoft.com/office/powerpoint/2010/main" val="1579011935"/>
              </p:ext>
            </p:extLst>
          </p:nvPr>
        </p:nvGraphicFramePr>
        <p:xfrm>
          <a:off x="548640" y="1508760"/>
          <a:ext cx="5760720" cy="914400"/>
        </p:xfrm>
        <a:graphic>
          <a:graphicData uri="http://schemas.openxmlformats.org/drawingml/2006/table">
            <a:tbl>
              <a:tblPr/>
              <a:tblGrid>
                <a:gridCol w="1371600"/>
                <a:gridCol w="731520"/>
                <a:gridCol w="731520"/>
                <a:gridCol w="731520"/>
                <a:gridCol w="731520"/>
                <a:gridCol w="731520"/>
                <a:gridCol w="731520"/>
              </a:tblGrid>
              <a:tr h="475488">
                <a:tc>
                  <a:txBody>
                    <a:bodyPr/>
                    <a:lstStyle/>
                    <a:p>
                      <a:pPr indent="0" marL="0">
                        <a:buNone/>
                      </a:pPr>
                      <a:r>
                        <a:rPr lang="en-US" sz="1100" b="1" dirty="0">
                          <a:solidFill>
                            <a:schemeClr val="accent5"/>
                          </a:solidFill>
                          <a:latin typeface="Calibri" pitchFamily="34" charset="0"/>
                          <a:ea typeface="Calibri" pitchFamily="34" charset="-122"/>
                          <a:cs typeface="Calibri" pitchFamily="34" charset="-120"/>
                        </a:rPr>
                        <a:t>CC to \ data of</a:t>
                      </a:r>
                      <a:endParaRPr lang="en-US" sz="11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JKT</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BDG</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SBY</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MDN</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MKS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chemeClr val="tx2"/>
                          </a:solidFill>
                          <a:latin typeface="Calibri" pitchFamily="34" charset="0"/>
                          <a:ea typeface="Calibri" pitchFamily="34" charset="-122"/>
                          <a:cs typeface="Calibri" pitchFamily="34" charset="-120"/>
                        </a:rPr>
                        <a:t>YGY</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7548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JKT</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78</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FE3"/>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r>
              <a:tr h="47548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BDG</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79</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FE3"/>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r>
              <a:tr h="47548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SBY</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77</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FE3"/>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r>
              <a:tr h="47548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MDN</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64</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FE3"/>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r>
              <a:tr h="47548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MKS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FE3"/>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r>
              <a:tr h="47548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YGY</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dirty="0">
                          <a:solidFill>
                            <a:srgbClr val="9AA5B1"/>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F8FA"/>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63</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FE3"/>
                    </a:solidFill>
                  </a:tcPr>
                </a:tc>
              </a:tr>
            </a:tbl>
          </a:graphicData>
        </a:graphic>
      </p:graphicFrame>
      <p:sp>
        <p:nvSpPr>
          <p:cNvPr id="4" name="matrix caption"/>
          <p:cNvSpPr txBox="1"/>
          <p:nvPr/>
        </p:nvSpPr>
        <p:spPr>
          <a:xfrm>
            <a:off x="548640" y="4983480"/>
            <a:ext cx="5760720" cy="731520"/>
          </a:xfrm>
          <a:prstGeom prst="rect">
            <a:avLst/>
          </a:prstGeom>
          <a:noFill/>
          <a:ln/>
        </p:spPr>
        <p:txBody>
          <a:bodyPr wrap="square" lIns="0" tIns="0" rIns="0" bIns="0" rtlCol="0" anchor="t"/>
          <a:lstStyle/>
          <a:p>
            <a:pPr indent="0" marL="0">
              <a:buNone/>
            </a:pPr>
            <a:r>
              <a:rPr lang="en-US" sz="1200" dirty="0">
                <a:solidFill>
                  <a:schemeClr val="accent5"/>
                </a:solidFill>
              </a:rPr>
              <a:t>Rows: branch mailbox that received the CC. Columns: branch that owns the customer's data. Anything off the diagonal would be a leak.</a:t>
            </a:r>
            <a:endParaRPr lang="en-US" sz="1200" dirty="0"/>
          </a:p>
        </p:txBody>
      </p:sp>
      <p:pic>
        <p:nvPicPr>
          <p:cNvPr id="5" name="check icon 0" descr="preencoded.png">    </p:cNvPr>
          <p:cNvPicPr>
            <a:picLocks noChangeAspect="1"/>
          </p:cNvPicPr>
          <p:nvPr/>
        </p:nvPicPr>
        <p:blipFill>
          <a:blip r:embed="rId1"/>
          <a:stretch>
            <a:fillRect/>
          </a:stretch>
        </p:blipFill>
        <p:spPr>
          <a:xfrm>
            <a:off x="6766560" y="1627632"/>
            <a:ext cx="365760" cy="365760"/>
          </a:xfrm>
          <a:prstGeom prst="rect">
            <a:avLst/>
          </a:prstGeom>
        </p:spPr>
      </p:pic>
      <p:sp>
        <p:nvSpPr>
          <p:cNvPr id="6" name="check text 0"/>
          <p:cNvSpPr txBox="1"/>
          <p:nvPr/>
        </p:nvSpPr>
        <p:spPr>
          <a:xfrm>
            <a:off x="7269480" y="1554480"/>
            <a:ext cx="4343400" cy="731520"/>
          </a:xfrm>
          <a:prstGeom prst="rect">
            <a:avLst/>
          </a:prstGeom>
          <a:noFill/>
          <a:ln/>
        </p:spPr>
        <p:txBody>
          <a:bodyPr wrap="square" lIns="0" tIns="0" rIns="0" bIns="0" rtlCol="0" anchor="t"/>
          <a:lstStyle/>
          <a:p>
            <a:pPr indent="0" marL="0">
              <a:buNone/>
            </a:pPr>
            <a:r>
              <a:rPr lang="en-US" sz="1400" b="1" dirty="0">
                <a:solidFill>
                  <a:schemeClr val="accent2"/>
                </a:solidFill>
              </a:rPr>
              <a:t>411 / 411  </a:t>
            </a:r>
            <a:pPr indent="0" marL="0">
              <a:buNone/>
            </a:pPr>
            <a:r>
              <a:rPr lang="en-US" sz="1400" dirty="0">
                <a:solidFill>
                  <a:schemeClr val="tx1"/>
                </a:solidFill>
              </a:rPr>
              <a:t>Attachment opens only with the recipient's own password</a:t>
            </a:r>
            <a:endParaRPr lang="en-US" sz="1400" dirty="0"/>
          </a:p>
        </p:txBody>
      </p:sp>
      <p:pic>
        <p:nvPicPr>
          <p:cNvPr id="7" name="check icon 1" descr="preencoded.png">    </p:cNvPr>
          <p:cNvPicPr>
            <a:picLocks noChangeAspect="1"/>
          </p:cNvPicPr>
          <p:nvPr/>
        </p:nvPicPr>
        <p:blipFill>
          <a:blip r:embed="rId2"/>
          <a:stretch>
            <a:fillRect/>
          </a:stretch>
        </p:blipFill>
        <p:spPr>
          <a:xfrm>
            <a:off x="6766560" y="2496312"/>
            <a:ext cx="365760" cy="365760"/>
          </a:xfrm>
          <a:prstGeom prst="rect">
            <a:avLst/>
          </a:prstGeom>
        </p:spPr>
      </p:pic>
      <p:sp>
        <p:nvSpPr>
          <p:cNvPr id="8" name="check text 1"/>
          <p:cNvSpPr txBox="1"/>
          <p:nvPr/>
        </p:nvSpPr>
        <p:spPr>
          <a:xfrm>
            <a:off x="7269480" y="2423160"/>
            <a:ext cx="4343400" cy="731520"/>
          </a:xfrm>
          <a:prstGeom prst="rect">
            <a:avLst/>
          </a:prstGeom>
          <a:noFill/>
          <a:ln/>
        </p:spPr>
        <p:txBody>
          <a:bodyPr wrap="square" lIns="0" tIns="0" rIns="0" bIns="0" rtlCol="0" anchor="t"/>
          <a:lstStyle/>
          <a:p>
            <a:pPr indent="0" marL="0">
              <a:buNone/>
            </a:pPr>
            <a:r>
              <a:rPr lang="en-US" sz="1400" b="1" dirty="0">
                <a:solidFill>
                  <a:schemeClr val="accent2"/>
                </a:solidFill>
              </a:rPr>
              <a:t>411 / 411  </a:t>
            </a:r>
            <a:pPr indent="0" marL="0">
              <a:buNone/>
            </a:pPr>
            <a:r>
              <a:rPr lang="en-US" sz="1400" dirty="0">
                <a:solidFill>
                  <a:schemeClr val="tx1"/>
                </a:solidFill>
              </a:rPr>
              <a:t>Attachment holds only the recipient's policy and NIK</a:t>
            </a:r>
            <a:endParaRPr lang="en-US" sz="1400" dirty="0"/>
          </a:p>
        </p:txBody>
      </p:sp>
      <p:pic>
        <p:nvPicPr>
          <p:cNvPr id="9" name="check icon 2" descr="preencoded.png">    </p:cNvPr>
          <p:cNvPicPr>
            <a:picLocks noChangeAspect="1"/>
          </p:cNvPicPr>
          <p:nvPr/>
        </p:nvPicPr>
        <p:blipFill>
          <a:blip r:embed="rId3"/>
          <a:stretch>
            <a:fillRect/>
          </a:stretch>
        </p:blipFill>
        <p:spPr>
          <a:xfrm>
            <a:off x="6766560" y="3364992"/>
            <a:ext cx="365760" cy="365760"/>
          </a:xfrm>
          <a:prstGeom prst="rect">
            <a:avLst/>
          </a:prstGeom>
        </p:spPr>
      </p:pic>
      <p:sp>
        <p:nvSpPr>
          <p:cNvPr id="10" name="check text 2"/>
          <p:cNvSpPr txBox="1"/>
          <p:nvPr/>
        </p:nvSpPr>
        <p:spPr>
          <a:xfrm>
            <a:off x="7269480" y="3291840"/>
            <a:ext cx="4343400" cy="731520"/>
          </a:xfrm>
          <a:prstGeom prst="rect">
            <a:avLst/>
          </a:prstGeom>
          <a:noFill/>
          <a:ln/>
        </p:spPr>
        <p:txBody>
          <a:bodyPr wrap="square" lIns="0" tIns="0" rIns="0" bIns="0" rtlCol="0" anchor="t"/>
          <a:lstStyle/>
          <a:p>
            <a:pPr indent="0" marL="0">
              <a:buNone/>
            </a:pPr>
            <a:r>
              <a:rPr lang="en-US" sz="1400" b="1" dirty="0">
                <a:solidFill>
                  <a:schemeClr val="accent2"/>
                </a:solidFill>
              </a:rPr>
              <a:t>411 / 411  </a:t>
            </a:r>
            <a:pPr indent="0" marL="0">
              <a:buNone/>
            </a:pPr>
            <a:r>
              <a:rPr lang="en-US" sz="1400" dirty="0">
                <a:solidFill>
                  <a:schemeClr val="tx1"/>
                </a:solidFill>
              </a:rPr>
              <a:t>CC goes only to the customer's own branch</a:t>
            </a:r>
            <a:endParaRPr lang="en-US" sz="1400" dirty="0"/>
          </a:p>
        </p:txBody>
      </p:sp>
      <p:pic>
        <p:nvPicPr>
          <p:cNvPr id="11" name="check icon 3" descr="preencoded.png">    </p:cNvPr>
          <p:cNvPicPr>
            <a:picLocks noChangeAspect="1"/>
          </p:cNvPicPr>
          <p:nvPr/>
        </p:nvPicPr>
        <p:blipFill>
          <a:blip r:embed="rId4"/>
          <a:stretch>
            <a:fillRect/>
          </a:stretch>
        </p:blipFill>
        <p:spPr>
          <a:xfrm>
            <a:off x="6766560" y="4233672"/>
            <a:ext cx="365760" cy="365760"/>
          </a:xfrm>
          <a:prstGeom prst="rect">
            <a:avLst/>
          </a:prstGeom>
        </p:spPr>
      </p:pic>
      <p:sp>
        <p:nvSpPr>
          <p:cNvPr id="12" name="check text 3"/>
          <p:cNvSpPr txBox="1"/>
          <p:nvPr/>
        </p:nvSpPr>
        <p:spPr>
          <a:xfrm>
            <a:off x="7269480" y="4160520"/>
            <a:ext cx="4343400" cy="731520"/>
          </a:xfrm>
          <a:prstGeom prst="rect">
            <a:avLst/>
          </a:prstGeom>
          <a:noFill/>
          <a:ln/>
        </p:spPr>
        <p:txBody>
          <a:bodyPr wrap="square" lIns="0" tIns="0" rIns="0" bIns="0" rtlCol="0" anchor="t"/>
          <a:lstStyle/>
          <a:p>
            <a:pPr indent="0" marL="0">
              <a:buNone/>
            </a:pPr>
            <a:r>
              <a:rPr lang="en-US" sz="1400" b="1" dirty="0">
                <a:solidFill>
                  <a:schemeClr val="accent2"/>
                </a:solidFill>
              </a:rPr>
              <a:t>411 / 411  </a:t>
            </a:r>
            <a:pPr indent="0" marL="0">
              <a:buNone/>
            </a:pPr>
            <a:r>
              <a:rPr lang="en-US" sz="1400" dirty="0">
                <a:solidFill>
                  <a:schemeClr val="tx1"/>
                </a:solidFill>
              </a:rPr>
              <a:t>No NIK in subject or body; one customer per email</a:t>
            </a:r>
            <a:endParaRPr lang="en-US" sz="1400" dirty="0"/>
          </a:p>
        </p:txBody>
      </p:sp>
      <p:sp>
        <p:nvSpPr>
          <p:cNvPr id="13" name="pii scan card"/>
          <p:cNvSpPr/>
          <p:nvPr/>
        </p:nvSpPr>
        <p:spPr>
          <a:xfrm>
            <a:off x="6766560" y="5074920"/>
            <a:ext cx="4846320" cy="777240"/>
          </a:xfrm>
          <a:prstGeom prst="roundRect">
            <a:avLst>
              <a:gd name="adj" fmla="val 9412"/>
            </a:avLst>
          </a:prstGeom>
          <a:solidFill>
            <a:schemeClr val="bg2"/>
          </a:solidFill>
          <a:ln w="12700">
            <a:solidFill>
              <a:schemeClr val="bg2"/>
            </a:solidFill>
            <a:prstDash val="solid"/>
          </a:ln>
        </p:spPr>
      </p:sp>
      <p:sp>
        <p:nvSpPr>
          <p:cNvPr id="14" name="pii scan text"/>
          <p:cNvSpPr txBox="1"/>
          <p:nvPr/>
        </p:nvSpPr>
        <p:spPr>
          <a:xfrm>
            <a:off x="6949440" y="5120640"/>
            <a:ext cx="4572000" cy="685800"/>
          </a:xfrm>
          <a:prstGeom prst="rect">
            <a:avLst/>
          </a:prstGeom>
          <a:noFill/>
          <a:ln/>
        </p:spPr>
        <p:txBody>
          <a:bodyPr wrap="square" lIns="0" tIns="0" rIns="0" bIns="0" rtlCol="0" anchor="ctr"/>
          <a:lstStyle/>
          <a:p>
            <a:pPr indent="0" marL="0">
              <a:buNone/>
            </a:pPr>
            <a:r>
              <a:rPr lang="en-US" sz="1400" b="1" dirty="0">
                <a:solidFill>
                  <a:schemeClr val="tx2"/>
                </a:solidFill>
              </a:rPr>
              <a:t>0 raw NIK, email addresses or birth dates found in logs and reports (DP-11 scan)</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Effort per batch falls from about 10 hours to 20 minutes while control coverage rises from none to 13 checks</a:t>
            </a:r>
            <a:endParaRPr lang="en-US" sz="2400" dirty="0"/>
          </a:p>
        </p:txBody>
      </p:sp>
      <p:graphicFrame>
        <p:nvGraphicFramePr>
          <p:cNvPr id="3" name="effort chart" descr=""/>
          <p:cNvGraphicFramePr/>
          <p:nvPr/>
        </p:nvGraphicFramePr>
        <p:xfrm>
          <a:off x="548640" y="1463040"/>
          <a:ext cx="49377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before after table"/>
          <p:cNvGraphicFramePr>
            <a:graphicFrameLocks noGrp="1"/>
          </p:cNvGraphicFramePr>
          <p:nvPr>
            <p:extLst>
              <p:ext uri="{D42A27DB-BD31-4B8C-83A1-F6EECF244321}">
                <p14:modId xmlns:p14="http://schemas.microsoft.com/office/powerpoint/2010/main" val="1579011935"/>
              </p:ext>
            </p:extLst>
          </p:nvPr>
        </p:nvGraphicFramePr>
        <p:xfrm>
          <a:off x="5943600" y="1508760"/>
          <a:ext cx="5669280" cy="914400"/>
        </p:xfrm>
        <a:graphic>
          <a:graphicData uri="http://schemas.openxmlformats.org/drawingml/2006/table">
            <a:tbl>
              <a:tblPr/>
              <a:tblGrid>
                <a:gridCol w="2103120"/>
                <a:gridCol w="1600200"/>
                <a:gridCol w="1965960"/>
              </a:tblGrid>
              <a:tr h="566928">
                <a:tc>
                  <a:txBody>
                    <a:bodyPr/>
                    <a:lstStyle/>
                    <a:p>
                      <a:pP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24F"/>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As-Is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24F"/>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To-Be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24F"/>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Effort per batch</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8A5404"/>
                          </a:solidFill>
                          <a:latin typeface="Calibri" pitchFamily="34" charset="0"/>
                          <a:ea typeface="Calibri" pitchFamily="34" charset="-122"/>
                          <a:cs typeface="Calibri" pitchFamily="34" charset="-120"/>
                        </a:rPr>
                        <a:t>~10 hours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8A5B"/>
                          </a:solidFill>
                          <a:latin typeface="Calibri" pitchFamily="34" charset="0"/>
                          <a:ea typeface="Calibri" pitchFamily="34" charset="-122"/>
                          <a:cs typeface="Calibri" pitchFamily="34" charset="-120"/>
                        </a:rPr>
                        <a:t>~20 minutes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Processing</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400" dirty="0">
                          <a:solidFill>
                            <a:srgbClr val="8A5404"/>
                          </a:solidFill>
                          <a:latin typeface="Calibri" pitchFamily="34" charset="0"/>
                          <a:ea typeface="Calibri" pitchFamily="34" charset="-122"/>
                          <a:cs typeface="Calibri" pitchFamily="34" charset="-120"/>
                        </a:rPr>
                        <a:t>Manual</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400" dirty="0">
                          <a:solidFill>
                            <a:srgbClr val="1F8A5B"/>
                          </a:solidFill>
                          <a:latin typeface="Calibri" pitchFamily="34" charset="0"/>
                          <a:ea typeface="Calibri" pitchFamily="34" charset="-122"/>
                          <a:cs typeface="Calibri" pitchFamily="34" charset="-120"/>
                        </a:rPr>
                        <a:t>~13 seconds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Wrong-recipient protection</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8A5404"/>
                          </a:solidFill>
                          <a:latin typeface="Calibri" pitchFamily="34" charset="0"/>
                          <a:ea typeface="Calibri" pitchFamily="34" charset="-122"/>
                          <a:cs typeface="Calibri" pitchFamily="34" charset="-120"/>
                        </a:rPr>
                        <a:t>Staff attention</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8A5B"/>
                          </a:solidFill>
                          <a:latin typeface="Calibri" pitchFamily="34" charset="0"/>
                          <a:ea typeface="Calibri" pitchFamily="34" charset="-122"/>
                          <a:cs typeface="Calibri" pitchFamily="34" charset="-120"/>
                        </a:rPr>
                        <a:t>13 automated controls</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NIK protection</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400" dirty="0">
                          <a:solidFill>
                            <a:srgbClr val="8A5404"/>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400" dirty="0">
                          <a:solidFill>
                            <a:srgbClr val="1F8A5B"/>
                          </a:solidFill>
                          <a:latin typeface="Calibri" pitchFamily="34" charset="0"/>
                          <a:ea typeface="Calibri" pitchFamily="34" charset="-122"/>
                          <a:cs typeface="Calibri" pitchFamily="34" charset="-120"/>
                        </a:rPr>
                        <a:t>Password-locked letter</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Review before sending</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8A5404"/>
                          </a:solidFill>
                          <a:latin typeface="Calibri" pitchFamily="34" charset="0"/>
                          <a:ea typeface="Calibri" pitchFamily="34" charset="-122"/>
                          <a:cs typeface="Calibri" pitchFamily="34" charset="-120"/>
                        </a:rPr>
                        <a:t>Ad hoc</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F8A5B"/>
                          </a:solidFill>
                          <a:latin typeface="Calibri" pitchFamily="34" charset="0"/>
                          <a:ea typeface="Calibri" pitchFamily="34" charset="-122"/>
                          <a:cs typeface="Calibri" pitchFamily="34" charset="-120"/>
                        </a:rPr>
                        <a:t>Maker-checker</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400" dirty="0">
                          <a:solidFill>
                            <a:srgbClr val="8A5404"/>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c>
                  <a:txBody>
                    <a:bodyPr/>
                    <a:lstStyle/>
                    <a:p>
                      <a:pPr indent="0" marL="0">
                        <a:buNone/>
                      </a:pPr>
                      <a:r>
                        <a:rPr lang="en-US" sz="1400" dirty="0">
                          <a:solidFill>
                            <a:srgbClr val="1F8A5B"/>
                          </a:solidFill>
                          <a:latin typeface="Calibri" pitchFamily="34" charset="0"/>
                          <a:ea typeface="Calibri" pitchFamily="34" charset="-122"/>
                          <a:cs typeface="Calibri" pitchFamily="34" charset="-120"/>
                        </a:rPr>
                        <a:t>Audit trail and report</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4F8"/>
                    </a:solidFill>
                  </a:tcPr>
                </a:tc>
              </a:tr>
            </a:tbl>
          </a:graphicData>
        </a:graphic>
      </p:graphicFrame>
      <p:sp>
        <p:nvSpPr>
          <p:cNvPr id="5" name="footnote"/>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000" i="1" dirty="0">
                <a:solidFill>
                  <a:schemeClr val="accent5"/>
                </a:solidFill>
              </a:rPr>
              <a:t>As-Is assumes 4 minutes per letter; To-Be assumes 20 minutes of maker review and checker approval plus measured processing time.</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Three changes remove the most frequent exceptions at their source; then the design is ready to pilot</a:t>
            </a:r>
            <a:endParaRPr lang="en-US" sz="2400" dirty="0"/>
          </a:p>
        </p:txBody>
      </p:sp>
      <p:sp>
        <p:nvSpPr>
          <p:cNvPr id="3" name="fix heading"/>
          <p:cNvSpPr txBox="1"/>
          <p:nvPr/>
        </p:nvSpPr>
        <p:spPr>
          <a:xfrm>
            <a:off x="548640" y="1371600"/>
            <a:ext cx="6035040" cy="411480"/>
          </a:xfrm>
          <a:prstGeom prst="rect">
            <a:avLst/>
          </a:prstGeom>
          <a:noFill/>
          <a:ln/>
        </p:spPr>
        <p:txBody>
          <a:bodyPr wrap="square" lIns="0" tIns="0" rIns="0" bIns="0" rtlCol="0" anchor="ctr"/>
          <a:lstStyle/>
          <a:p>
            <a:pPr indent="0" marL="0">
              <a:buNone/>
            </a:pPr>
            <a:r>
              <a:rPr lang="en-US" sz="1800" b="1" dirty="0">
                <a:solidFill>
                  <a:schemeClr val="tx2"/>
                </a:solidFill>
              </a:rPr>
              <a:t>Fix at source</a:t>
            </a:r>
            <a:endParaRPr lang="en-US" sz="1800" dirty="0"/>
          </a:p>
        </p:txBody>
      </p:sp>
      <p:sp>
        <p:nvSpPr>
          <p:cNvPr id="4" name="rec circle 0"/>
          <p:cNvSpPr/>
          <p:nvPr/>
        </p:nvSpPr>
        <p:spPr>
          <a:xfrm>
            <a:off x="548640" y="1920240"/>
            <a:ext cx="548640" cy="548640"/>
          </a:xfrm>
          <a:prstGeom prst="ellipse">
            <a:avLst/>
          </a:prstGeom>
          <a:solidFill>
            <a:schemeClr val="accent1"/>
          </a:solidFill>
          <a:ln w="12700">
            <a:solidFill>
              <a:schemeClr val="accent1"/>
            </a:solidFill>
            <a:prstDash val="solid"/>
          </a:ln>
        </p:spPr>
      </p:sp>
      <p:sp>
        <p:nvSpPr>
          <p:cNvPr id="5" name="rec number 0"/>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rec text 0"/>
          <p:cNvSpPr txBox="1"/>
          <p:nvPr/>
        </p:nvSpPr>
        <p:spPr>
          <a:xfrm>
            <a:off x="1280160" y="1874520"/>
            <a:ext cx="5303520" cy="1097280"/>
          </a:xfrm>
          <a:prstGeom prst="rect">
            <a:avLst/>
          </a:prstGeom>
          <a:noFill/>
          <a:ln/>
        </p:spPr>
        <p:txBody>
          <a:bodyPr wrap="square" lIns="0" tIns="0" rIns="0" bIns="0" rtlCol="0" anchor="t"/>
          <a:lstStyle/>
          <a:p>
            <a:pPr indent="0" marL="0">
              <a:buNone/>
            </a:pPr>
            <a:r>
              <a:rPr lang="en-US" sz="1400" b="1" dirty="0">
                <a:solidFill>
                  <a:schemeClr val="tx2"/>
                </a:solidFill>
              </a:rPr>
              <a:t>Build the send list directly from master data</a:t>
            </a:r>
            <a:endParaRPr lang="en-US" sz="1400" dirty="0"/>
          </a:p>
          <a:p>
            <a:pPr indent="0" marL="0">
              <a:buNone/>
            </a:pPr>
            <a:r>
              <a:rPr lang="en-US" sz="1400" dirty="0">
                <a:solidFill>
                  <a:schemeClr val="tx1"/>
                </a:solidFill>
              </a:rPr>
              <a:t>Stale and mistyped emails were the top exception (DP-06, 7 held)</a:t>
            </a:r>
            <a:endParaRPr lang="en-US" sz="1400" dirty="0"/>
          </a:p>
        </p:txBody>
      </p:sp>
      <p:sp>
        <p:nvSpPr>
          <p:cNvPr id="7" name="rec circle 1"/>
          <p:cNvSpPr/>
          <p:nvPr/>
        </p:nvSpPr>
        <p:spPr>
          <a:xfrm>
            <a:off x="548640" y="3246120"/>
            <a:ext cx="548640" cy="548640"/>
          </a:xfrm>
          <a:prstGeom prst="ellipse">
            <a:avLst/>
          </a:prstGeom>
          <a:solidFill>
            <a:schemeClr val="accent1"/>
          </a:solidFill>
          <a:ln w="12700">
            <a:solidFill>
              <a:schemeClr val="accent1"/>
            </a:solidFill>
            <a:prstDash val="solid"/>
          </a:ln>
        </p:spPr>
      </p:sp>
      <p:sp>
        <p:nvSpPr>
          <p:cNvPr id="8" name="rec number 1"/>
          <p:cNvSpPr txBox="1"/>
          <p:nvPr/>
        </p:nvSpPr>
        <p:spPr>
          <a:xfrm>
            <a:off x="548640" y="3246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rec text 1"/>
          <p:cNvSpPr txBox="1"/>
          <p:nvPr/>
        </p:nvSpPr>
        <p:spPr>
          <a:xfrm>
            <a:off x="1280160" y="3200400"/>
            <a:ext cx="5303520" cy="1097280"/>
          </a:xfrm>
          <a:prstGeom prst="rect">
            <a:avLst/>
          </a:prstGeom>
          <a:noFill/>
          <a:ln/>
        </p:spPr>
        <p:txBody>
          <a:bodyPr wrap="square" lIns="0" tIns="0" rIns="0" bIns="0" rtlCol="0" anchor="t"/>
          <a:lstStyle/>
          <a:p>
            <a:pPr indent="0" marL="0">
              <a:buNone/>
            </a:pPr>
            <a:r>
              <a:rPr lang="en-US" sz="1400" b="1" dirty="0">
                <a:solidFill>
                  <a:schemeClr val="tx2"/>
                </a:solidFill>
              </a:rPr>
              <a:t>Remove the manual CC column from the template</a:t>
            </a:r>
            <a:endParaRPr lang="en-US" sz="1400" dirty="0"/>
          </a:p>
          <a:p>
            <a:pPr indent="0" marL="0">
              <a:buNone/>
            </a:pPr>
            <a:r>
              <a:rPr lang="en-US" sz="1400" dirty="0">
                <a:solidFill>
                  <a:schemeClr val="tx1"/>
                </a:solidFill>
              </a:rPr>
              <a:t>Branch mailboxes come from branch master only (DP-07, 6 held)</a:t>
            </a:r>
            <a:endParaRPr lang="en-US" sz="1400" dirty="0"/>
          </a:p>
        </p:txBody>
      </p:sp>
      <p:sp>
        <p:nvSpPr>
          <p:cNvPr id="10" name="rec circle 2"/>
          <p:cNvSpPr/>
          <p:nvPr/>
        </p:nvSpPr>
        <p:spPr>
          <a:xfrm>
            <a:off x="548640" y="4572000"/>
            <a:ext cx="548640" cy="548640"/>
          </a:xfrm>
          <a:prstGeom prst="ellipse">
            <a:avLst/>
          </a:prstGeom>
          <a:solidFill>
            <a:schemeClr val="accent1"/>
          </a:solidFill>
          <a:ln w="12700">
            <a:solidFill>
              <a:schemeClr val="accent1"/>
            </a:solidFill>
            <a:prstDash val="solid"/>
          </a:ln>
        </p:spPr>
      </p:sp>
      <p:sp>
        <p:nvSpPr>
          <p:cNvPr id="11" name="rec number 2"/>
          <p:cNvSpPr txBox="1"/>
          <p:nvPr/>
        </p:nvSpPr>
        <p:spPr>
          <a:xfrm>
            <a:off x="548640" y="4572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rec text 2"/>
          <p:cNvSpPr txBox="1"/>
          <p:nvPr/>
        </p:nvSpPr>
        <p:spPr>
          <a:xfrm>
            <a:off x="1280160" y="4526280"/>
            <a:ext cx="5303520" cy="1097280"/>
          </a:xfrm>
          <a:prstGeom prst="rect">
            <a:avLst/>
          </a:prstGeom>
          <a:noFill/>
          <a:ln/>
        </p:spPr>
        <p:txBody>
          <a:bodyPr wrap="square" lIns="0" tIns="0" rIns="0" bIns="0" rtlCol="0" anchor="t"/>
          <a:lstStyle/>
          <a:p>
            <a:pPr indent="0" marL="0">
              <a:buNone/>
            </a:pPr>
            <a:r>
              <a:rPr lang="en-US" sz="1400" b="1" dirty="0">
                <a:solidFill>
                  <a:schemeClr val="tx2"/>
                </a:solidFill>
              </a:rPr>
              <a:t>Enforce file naming at letter generation</a:t>
            </a:r>
            <a:endParaRPr lang="en-US" sz="1400" dirty="0"/>
          </a:p>
          <a:p>
            <a:pPr indent="0" marL="0">
              <a:buNone/>
            </a:pPr>
            <a:r>
              <a:rPr lang="en-US" sz="1400" dirty="0">
                <a:solidFill>
                  <a:schemeClr val="tx1"/>
                </a:solidFill>
              </a:rPr>
              <a:t>Letter type + policy + period, never the NIK (DP-03 and DP-10, 9 held)</a:t>
            </a:r>
            <a:endParaRPr lang="en-US" sz="1400" dirty="0"/>
          </a:p>
        </p:txBody>
      </p:sp>
      <p:sp>
        <p:nvSpPr>
          <p:cNvPr id="13" name="pilot card"/>
          <p:cNvSpPr/>
          <p:nvPr/>
        </p:nvSpPr>
        <p:spPr>
          <a:xfrm>
            <a:off x="6949440" y="1371600"/>
            <a:ext cx="4663440" cy="3840480"/>
          </a:xfrm>
          <a:prstGeom prst="roundRect">
            <a:avLst>
              <a:gd name="adj" fmla="val 1905"/>
            </a:avLst>
          </a:prstGeom>
          <a:solidFill>
            <a:schemeClr val="bg2"/>
          </a:solidFill>
          <a:ln w="12700">
            <a:solidFill>
              <a:schemeClr val="bg2"/>
            </a:solidFill>
            <a:prstDash val="solid"/>
          </a:ln>
        </p:spPr>
      </p:sp>
      <p:sp>
        <p:nvSpPr>
          <p:cNvPr id="14" name="pilot heading"/>
          <p:cNvSpPr txBox="1"/>
          <p:nvPr/>
        </p:nvSpPr>
        <p:spPr>
          <a:xfrm>
            <a:off x="7223760" y="155448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Path to production</a:t>
            </a:r>
            <a:endParaRPr lang="en-US" sz="1800" dirty="0"/>
          </a:p>
        </p:txBody>
      </p:sp>
      <p:sp>
        <p:nvSpPr>
          <p:cNvPr id="15" name="pilot steps"/>
          <p:cNvSpPr txBox="1"/>
          <p:nvPr/>
        </p:nvSpPr>
        <p:spPr>
          <a:xfrm>
            <a:off x="7223760" y="2103120"/>
            <a:ext cx="4206240" cy="29260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Pilot one letter type in one branch for one month</a:t>
            </a:r>
            <a:endParaRPr lang="en-US" sz="1400" dirty="0"/>
          </a:p>
          <a:p>
            <a:pPr marL="342900" indent="-342900">
              <a:spcAft>
                <a:spcPts val="1000"/>
              </a:spcAft>
              <a:buSzPct val="100000"/>
              <a:buChar char="•"/>
            </a:pPr>
            <a:r>
              <a:rPr lang="en-US" sz="1400" dirty="0">
                <a:solidFill>
                  <a:schemeClr val="tx1"/>
                </a:solidFill>
              </a:rPr>
              <a:t>Run a time study to replace the assumed As-Is effort</a:t>
            </a:r>
            <a:endParaRPr lang="en-US" sz="1400" dirty="0"/>
          </a:p>
          <a:p>
            <a:pPr marL="342900" indent="-342900">
              <a:spcAft>
                <a:spcPts val="1000"/>
              </a:spcAft>
              <a:buSzPct val="100000"/>
              <a:buChar char="•"/>
            </a:pPr>
            <a:r>
              <a:rPr lang="en-US" sz="1400" dirty="0">
                <a:solidFill>
                  <a:schemeClr val="tx1"/>
                </a:solidFill>
              </a:rPr>
              <a:t>Switch the transport to SMTP with credentials from a secrets vault</a:t>
            </a:r>
            <a:endParaRPr lang="en-US" sz="1400" dirty="0"/>
          </a:p>
          <a:p>
            <a:pPr marL="342900" indent="-342900">
              <a:spcAft>
                <a:spcPts val="1000"/>
              </a:spcAft>
              <a:buSzPct val="100000"/>
              <a:buChar char="•"/>
            </a:pPr>
            <a:r>
              <a:rPr lang="en-US" sz="1400" dirty="0">
                <a:solidFill>
                  <a:schemeClr val="tx1"/>
                </a:solidFill>
              </a:rPr>
              <a:t>Consider an SMS one-time password instead of date of birth</a:t>
            </a:r>
            <a:endParaRPr lang="en-US" sz="1400" dirty="0"/>
          </a:p>
          <a:p>
            <a:pPr marL="342900" indent="-342900">
              <a:spcAft>
                <a:spcPts val="1000"/>
              </a:spcAft>
              <a:buSzPct val="100000"/>
              <a:buChar char="•"/>
            </a:pPr>
            <a:r>
              <a:rPr lang="en-US" sz="1400" dirty="0">
                <a:solidFill>
                  <a:schemeClr val="tx1"/>
                </a:solidFill>
              </a:rPr>
              <a:t>Review the monthly control report with the DPO</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708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Faster. Leak-proof. Auditable.</a:t>
            </a:r>
            <a:endParaRPr lang="en-US" sz="4000" dirty="0"/>
          </a:p>
        </p:txBody>
      </p:sp>
      <p:sp>
        <p:nvSpPr>
          <p:cNvPr id="3" name="Text 0"/>
          <p:cNvSpPr/>
          <p:nvPr>
            <p:ph idx="101" type="body" hasCustomPrompt="1"/>
          </p:nvPr>
        </p:nvSpPr>
        <p:spPr>
          <a:xfrm>
            <a:off x="731520" y="3611880"/>
            <a:ext cx="10058400" cy="1463040"/>
          </a:xfrm>
          <a:prstGeom prst="rect">
            <a:avLst/>
          </a:prstGeom>
          <a:noFill/>
          <a:ln/>
        </p:spPr>
        <p:txBody>
          <a:bodyPr wrap="square" lIns="0" tIns="0" rIns="0" bIns="0" rtlCol="0" anchor="t"/>
          <a:lstStyle/>
          <a:p>
            <a:pPr indent="0" marL="0">
              <a:buNone/>
            </a:pPr>
            <a:r>
              <a:rPr lang="en-US" sz="1800" dirty="0">
                <a:solidFill>
                  <a:srgbClr val="CADCFC"/>
                </a:solidFill>
              </a:rPr>
              <a:t>Code, synthetic data, governance documents and 22 tests:</a:t>
            </a:r>
            <a:endParaRPr lang="en-US" sz="1800" dirty="0"/>
          </a:p>
          <a:p>
            <a:pPr indent="0" marL="0">
              <a:buNone/>
            </a:pPr>
            <a:r>
              <a:rPr lang="en-US" sz="1800" b="1" dirty="0">
                <a:solidFill>
                  <a:srgbClr val="FFFFFF"/>
                </a:solidFill>
              </a:rPr>
              <a:t>github.com/YusepFathul/secure-customer-correspondence</a:t>
            </a:r>
            <a:endParaRPr lang="en-US" sz="1800" dirty="0"/>
          </a:p>
          <a:p>
            <a:pPr indent="0" marL="0">
              <a:buNone/>
            </a:pPr>
            <a:r>
              <a:rPr lang="en-US" sz="1000" dirty="0">
                <a:solidFill>
                  <a:srgbClr val="CADCFC"/>
                </a:solidFill>
              </a:rPr>
              <a:t> </a:t>
            </a:r>
            <a:endParaRPr lang="en-US" sz="1800" dirty="0"/>
          </a:p>
          <a:p>
            <a:pPr indent="0" marL="0">
              <a:buNone/>
            </a:pPr>
            <a:r>
              <a:rPr lang="en-US" sz="1400" dirty="0">
                <a:solidFill>
                  <a:srgbClr val="9DB4CC"/>
                </a:solidFill>
              </a:rPr>
              <a:t>Yusep Fathul Anwar  |  linkedin.com/in/yusepfathulanwar</a:t>
            </a:r>
            <a:endParaRPr lang="en-US" sz="1800" dirty="0"/>
          </a:p>
        </p:txBody>
      </p:sp>
    </p:spTree>
  </p:cSld>
  <p:clrMapOvr>
    <a:masterClrMapping/>
  </p:clrMapOvr>
</p:sld>
</file>

<file path=ppt/theme/theme1.xml><?xml version="1.0" encoding="utf-8"?>
<a:theme xmlns:a="http://schemas.openxmlformats.org/drawingml/2006/main" name="Secure Correspondence">
  <a:themeElements>
    <a:clrScheme name="Secure Correspondence">
      <a:dk1>
        <a:srgbClr val="1B2433"/>
      </a:dk1>
      <a:lt1>
        <a:srgbClr val="FFFFFF"/>
      </a:lt1>
      <a:dk2>
        <a:srgbClr val="14324F"/>
      </a:dk2>
      <a:lt2>
        <a:srgbClr val="F1F4F8"/>
      </a:lt2>
      <a:accent1>
        <a:srgbClr val="14324F"/>
      </a:accent1>
      <a:accent2>
        <a:srgbClr val="1F8A5B"/>
      </a:accent2>
      <a:accent3>
        <a:srgbClr val="C97B06"/>
      </a:accent3>
      <a:accent4>
        <a:srgbClr val="17808F"/>
      </a:accent4>
      <a:accent5>
        <a:srgbClr val="5B7088"/>
      </a:accent5>
      <a:accent6>
        <a:srgbClr val="B03A2E"/>
      </a:accent6>
      <a:hlink>
        <a:srgbClr val="1F6FB2"/>
      </a:hlink>
      <a:folHlink>
        <a:srgbClr val="5B7088"/>
      </a:folHlink>
    </a:clrScheme>
    <a:fontScheme name="Secure Correspond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Customer Correspondence</dc:title>
  <dc:subject>PptxGenJS Presentation</dc:subject>
  <dc:creator>Yusep Fathul Anwar</dc:creator>
  <cp:lastModifiedBy>Yusep Fathul Anwar</cp:lastModifiedBy>
  <cp:revision>1</cp:revision>
  <dcterms:created xsi:type="dcterms:W3CDTF">2026-10-17T14:03:06Z</dcterms:created>
  <dcterms:modified xsi:type="dcterms:W3CDTF">2026-10-17T14:03:06Z</dcterms:modified>
</cp:coreProperties>
</file>